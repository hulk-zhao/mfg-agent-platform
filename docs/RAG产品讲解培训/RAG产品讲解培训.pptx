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7" Type="http://schemas.openxmlformats.org/officeDocument/2006/relationships/slide" Target="slides/slide7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13.svg" /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Relationship Id="rId2" Type="http://schemas.openxmlformats.org/officeDocument/2006/relationships/image" Target="media/image15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2" Type="http://schemas.openxmlformats.org/officeDocument/2006/relationships/image" Target="media/image7.svg" /><Relationship Id="rId3" Type="http://schemas.openxmlformats.org/officeDocument/2006/relationships/image" Target="media/image8.sv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86000"/>
                </a:srgbClr>
              </a:gs>
              <a:gs pos="55000">
                <a:srgbClr val="0F172A">
                  <a:alpha val="58000"/>
                </a:srgbClr>
              </a:gs>
              <a:gs pos="100000">
                <a:srgbClr val="0F172A">
                  <a:alpha val="22000"/>
                </a:srgbClr>
              </a:gs>
            </a:gsLst>
            <a:lin ang="9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1676400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838200" y="1695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28700" y="16478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BFDBFE"/>
                </a:solidFill>
                <a:latin typeface="Noto Sans SC"/>
                <a:ea typeface="Noto Sans SC"/>
              </a:rPr>
              <a:t>独立开发实践</a:t>
            </a:r>
            <a:r>
              <a:rPr lang="en-US" sz="1200" spc="225">
                <a:solidFill>
                  <a:srgbClr val="BFDBFE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00" spc="225">
                <a:solidFill>
                  <a:srgbClr val="BFDBFE"/>
                </a:solidFill>
                <a:latin typeface="Noto Sans SC"/>
                <a:ea typeface="Noto Sans SC"/>
              </a:rPr>
              <a:t>培训讲解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6591300" cy="8858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Noto Sans SC"/>
                <a:ea typeface="Noto Sans SC"/>
              </a:rPr>
              <a:t>让工厂知识随问随答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3295650"/>
            <a:ext cx="8001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65913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950">
                <a:solidFill>
                  <a:srgbClr val="E2E8F0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950">
                <a:solidFill>
                  <a:srgbClr val="E2E8F0"/>
                </a:solidFill>
                <a:latin typeface="Noto Sans SC"/>
                <a:ea typeface="Noto Sans SC"/>
              </a:rPr>
              <a:t>模块的技术实现与搭建思路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E2E8F0"/>
                </a:solidFill>
                <a:latin typeface="Noto Sans SC"/>
                <a:ea typeface="Noto Sans SC"/>
              </a:rPr>
              <a:t>——从工厂痛点到一条可审计的知识链路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5019675"/>
            <a:ext cx="95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8FAFC"/>
                </a:solidFill>
                <a:latin typeface="JetBrains Mono"/>
                <a:ea typeface="JetBrains Mono"/>
              </a:rPr>
              <a:t>讲解人：</a:t>
            </a:r>
            <a:r>
              <a:rPr lang="en-US" sz="1200">
                <a:solidFill>
                  <a:srgbClr val="F8FAFC"/>
                </a:solidFill>
                <a:latin typeface="JetBrains Mono"/>
                <a:ea typeface="JetBrains Mono"/>
              </a:rPr>
              <a:t>Hulk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714500" y="5038725"/>
            <a:ext cx="9525" cy="15240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p>
            <a:pPr/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76425" y="501967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JetBrains Mono"/>
                <a:ea typeface="JetBrains Mono"/>
              </a:rPr>
              <a:t>2026-10-21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0" y="0"/>
            <a:ext cx="3810000" cy="62865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1E40AF"/>
              </a:gs>
            </a:gsLst>
            <a:lin ang="45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81000" y="5334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71500" y="5524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1000" y="195262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3C5FD"/>
                </a:solidFill>
                <a:latin typeface="JetBrains Mono"/>
                <a:ea typeface="JetBrains Mono"/>
              </a:rPr>
              <a:t>CONTENTS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81000" y="2247900"/>
            <a:ext cx="3048000" cy="600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FFFFFF"/>
                </a:solidFill>
                <a:latin typeface="Noto Sans SC"/>
                <a:ea typeface="Noto Sans SC"/>
              </a:rPr>
              <a:t>今天讲什么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81000" y="3057525"/>
            <a:ext cx="609600" cy="47625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81000" y="3295650"/>
            <a:ext cx="3048000" cy="1000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DBEAFE"/>
                </a:solidFill>
                <a:latin typeface="Noto Sans SC"/>
                <a:ea typeface="Noto Sans SC"/>
              </a:rPr>
              <a:t>三个问题，一条主线：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DBEAFE"/>
                </a:solidFill>
                <a:latin typeface="Noto Sans SC"/>
                <a:ea typeface="Noto Sans SC"/>
              </a:rPr>
              <a:t>为什么做、</a:t>
            </a:r>
            <a:r>
              <a:rPr lang="en-US" sz="1275">
                <a:solidFill>
                  <a:srgbClr val="DBEAFE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275">
                <a:solidFill>
                  <a:srgbClr val="DBEAFE"/>
                </a:solidFill>
                <a:latin typeface="Noto Sans SC"/>
                <a:ea typeface="Noto Sans SC"/>
              </a:rPr>
              <a:t>怎么搭、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DBEAFE"/>
                </a:solidFill>
                <a:latin typeface="Noto Sans SC"/>
                <a:ea typeface="Noto Sans SC"/>
              </a:rPr>
              <a:t>多</a:t>
            </a:r>
            <a:r>
              <a:rPr lang="en-US" sz="1275">
                <a:solidFill>
                  <a:srgbClr val="DBEAFE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275">
                <a:solidFill>
                  <a:srgbClr val="DBEAFE"/>
                </a:solidFill>
                <a:latin typeface="Noto Sans SC"/>
                <a:ea typeface="Noto Sans SC"/>
              </a:rPr>
              <a:t>什么关系。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81000" y="5600700"/>
            <a:ext cx="304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3C5FD"/>
                </a:solidFill>
                <a:latin typeface="JetBrains Mono"/>
                <a:ea typeface="JetBrains Mono"/>
              </a:rPr>
              <a:t>20 PAGES · 3 CHAPTERS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343400" y="495300"/>
            <a:ext cx="495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048250" y="495300"/>
            <a:ext cx="30956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F172A"/>
                </a:solidFill>
                <a:latin typeface="Noto Sans SC"/>
                <a:ea typeface="Noto Sans SC"/>
              </a:rPr>
              <a:t>产品初衷：为什么做这个产品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277225" y="495300"/>
            <a:ext cx="5143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P04–P06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048250" y="857250"/>
            <a:ext cx="65341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Noto Sans SC"/>
                <a:ea typeface="Noto Sans SC"/>
              </a:rPr>
              <a:t>三个一线痛点怎么长成一个产品定位，以及四条验收级的设计原则。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343400" y="1847850"/>
            <a:ext cx="723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343400" y="2543175"/>
            <a:ext cx="495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048250" y="2543175"/>
            <a:ext cx="33432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F172A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875" b="1">
                <a:solidFill>
                  <a:srgbClr val="0F172A"/>
                </a:solidFill>
                <a:latin typeface="Noto Sans SC"/>
                <a:ea typeface="Noto Sans SC"/>
              </a:rPr>
              <a:t>模块：三层架构与搭建思路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524875" y="2543175"/>
            <a:ext cx="5143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P08–P16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048250" y="2905125"/>
            <a:ext cx="65341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Noto Sans SC"/>
                <a:ea typeface="Noto Sans SC"/>
              </a:rPr>
              <a:t>今天的主场：每层怎么实现、阈值怎么定、效果怎么量、方法怎么复刻。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4343400" y="3895725"/>
            <a:ext cx="72390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343400" y="4581525"/>
            <a:ext cx="495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048250" y="4581525"/>
            <a:ext cx="35718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F172A"/>
                </a:solidFill>
                <a:latin typeface="Noto Sans SC"/>
                <a:ea typeface="Noto Sans SC"/>
              </a:rPr>
              <a:t>多</a:t>
            </a:r>
            <a:r>
              <a:rPr lang="en-US" sz="1875" b="1">
                <a:solidFill>
                  <a:srgbClr val="0F172A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875" b="1">
                <a:solidFill>
                  <a:srgbClr val="0F172A"/>
                </a:solidFill>
                <a:latin typeface="Noto Sans SC"/>
                <a:ea typeface="Noto Sans SC"/>
              </a:rPr>
              <a:t>与总结：协同与质量基线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753475" y="4581525"/>
            <a:ext cx="5143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P18–P20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048250" y="4943475"/>
            <a:ext cx="65341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475569"/>
                </a:solidFill>
                <a:latin typeface="Noto Sans SC"/>
                <a:ea typeface="Noto Sans SC"/>
              </a:rPr>
              <a:t xml:space="preserve">18 </a:t>
            </a:r>
            <a:r>
              <a:rPr lang="zh-CN" sz="1275">
                <a:solidFill>
                  <a:srgbClr val="475569"/>
                </a:solidFill>
                <a:latin typeface="Noto Sans SC"/>
                <a:ea typeface="Noto Sans SC"/>
              </a:rPr>
              <a:t>个智能体和</a:t>
            </a:r>
            <a:r>
              <a:rPr lang="en-US" sz="1275">
                <a:solidFill>
                  <a:srgbClr val="475569"/>
                </a:solidFill>
                <a:latin typeface="Noto Sans SC"/>
                <a:ea typeface="Noto Sans SC"/>
              </a:rPr>
              <a:t xml:space="preserve"> RAG </a:t>
            </a:r>
            <a:r>
              <a:rPr lang="zh-CN" sz="1275">
                <a:solidFill>
                  <a:srgbClr val="475569"/>
                </a:solidFill>
                <a:latin typeface="Noto Sans SC"/>
                <a:ea typeface="Noto Sans SC"/>
              </a:rPr>
              <a:t>是什么关系，</a:t>
            </a:r>
            <a:r>
              <a:rPr lang="en-US" sz="1275">
                <a:solidFill>
                  <a:srgbClr val="475569"/>
                </a:solidFill>
                <a:latin typeface="Noto Sans SC"/>
                <a:ea typeface="Noto Sans SC"/>
              </a:rPr>
              <a:t xml:space="preserve">1896 </a:t>
            </a:r>
            <a:r>
              <a:rPr lang="zh-CN" sz="1275">
                <a:solidFill>
                  <a:srgbClr val="475569"/>
                </a:solidFill>
                <a:latin typeface="Noto Sans SC"/>
                <a:ea typeface="Noto Sans SC"/>
              </a:rPr>
              <a:t>条测试究竟守住了什么。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4343400" y="5448300"/>
            <a:ext cx="7239000" cy="457200"/>
          </a:xfrm>
          <a:prstGeom prst="roundRect">
            <a:avLst>
              <a:gd name="adj" fmla="val 20833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33900" y="5581650"/>
            <a:ext cx="190500" cy="190500"/>
          </a:xfrm>
          <a:prstGeom prst="rect">
            <a:avLst/>
          </a:prstGeom>
          <a:ln/>
        </p:spPr>
      </p:pic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838700" y="5581650"/>
            <a:ext cx="2362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0AF"/>
                </a:solidFill>
                <a:latin typeface="Noto Sans SC"/>
                <a:ea typeface="Noto Sans SC"/>
              </a:rPr>
              <a:t>全程约</a:t>
            </a:r>
            <a:r>
              <a:rPr lang="en-US" sz="1200">
                <a:solidFill>
                  <a:srgbClr val="1E40AF"/>
                </a:solidFill>
                <a:latin typeface="Noto Sans SC"/>
                <a:ea typeface="Noto Sans SC"/>
              </a:rPr>
              <a:t xml:space="preserve"> 20 </a:t>
            </a:r>
            <a:r>
              <a:rPr lang="zh-CN" sz="1200">
                <a:solidFill>
                  <a:srgbClr val="1E40AF"/>
                </a:solidFill>
                <a:latin typeface="Noto Sans SC"/>
                <a:ea typeface="Noto Sans SC"/>
              </a:rPr>
              <a:t>分钟，欢迎随时打断提问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02 / 20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55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88000"/>
                </a:srgbClr>
              </a:gs>
              <a:gs pos="48000">
                <a:srgbClr val="0F172A">
                  <a:alpha val="62000"/>
                </a:srgbClr>
              </a:gs>
              <a:gs pos="100000">
                <a:srgbClr val="0F172A">
                  <a:alpha val="30000"/>
                </a:srgbClr>
              </a:gs>
            </a:gsLst>
            <a:lin ang="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75">
                <a:solidFill>
                  <a:srgbClr val="7DD3FC"/>
                </a:solidFill>
                <a:latin typeface="JetBrains Mono"/>
                <a:ea typeface="JetBrains Mono"/>
              </a:rPr>
              <a:t>CHAPTER 01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2009775" y="533400"/>
            <a:ext cx="438150" cy="190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2581275" y="4572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P04 – P06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67056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gradFill>
                  <a:gsLst>
                    <a:gs pos="0">
                      <a:srgbClr val="2563EB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09600" y="3048000"/>
            <a:ext cx="6705600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600" b="1">
                <a:solidFill>
                  <a:srgbClr val="FFFFFF"/>
                </a:solidFill>
                <a:latin typeface="Noto Sans SC"/>
                <a:ea typeface="Noto Sans SC"/>
              </a:rPr>
              <a:t>产品初衷：为什么做这个产品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09600" y="3943350"/>
            <a:ext cx="8001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4171950"/>
            <a:ext cx="67056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BD5E1"/>
                </a:solidFill>
                <a:latin typeface="Noto Sans SC"/>
                <a:ea typeface="Noto Sans SC"/>
              </a:rPr>
              <a:t>先讲清楚问题，再讲方案——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CBD5E1"/>
                </a:solidFill>
                <a:latin typeface="Noto Sans SC"/>
                <a:ea typeface="Noto Sans SC"/>
              </a:rPr>
              <a:t>没有痛点的架构是空中楼阁。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6076950"/>
            <a:ext cx="6705600" cy="9525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09600" y="62674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819150" y="6276975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000125" y="6238875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257800" y="6248400"/>
            <a:ext cx="205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JetBrains Mono"/>
                <a:ea typeface="JetBrains Mono"/>
              </a:rPr>
              <a:t>素材出处：</a:t>
            </a: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README.md · PRD-V3.md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7772400" y="457200"/>
            <a:ext cx="3810000" cy="5943600"/>
          </a:xfrm>
          <a:prstGeom prst="roundRect">
            <a:avLst>
              <a:gd name="adj" fmla="val 4000"/>
            </a:avLst>
          </a:prstGeom>
          <a:solidFill>
            <a:srgbClr val="0F172A">
              <a:alpha val="58000"/>
            </a:srgbClr>
          </a:solidFill>
          <a:ln w="12700">
            <a:solidFill>
              <a:srgbClr val="94A3B8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039100" y="723900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7DD3FC"/>
                </a:solidFill>
                <a:latin typeface="JetBrains Mono"/>
                <a:ea typeface="JetBrains Mono"/>
              </a:rPr>
              <a:t>本章三页</a:t>
            </a:r>
            <a:r>
              <a:rPr lang="en-US" sz="975" spc="225">
                <a:solidFill>
                  <a:srgbClr val="7DD3FC"/>
                </a:solidFill>
                <a:latin typeface="JetBrains Mono"/>
                <a:ea typeface="JetBrains Mono"/>
              </a:rPr>
              <a:t xml:space="preserve"> · IN THIS CHAPTER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8039100" y="1047750"/>
            <a:ext cx="3276600" cy="9525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039100" y="124777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P04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477250" y="12477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三个痛点：知识卡在哪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039100" y="16097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P05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477250" y="1609725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产品是什么：一条可审计链路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039100" y="197167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P06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477250" y="19716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四条验收级的设计原则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8039100" y="5010150"/>
            <a:ext cx="3276600" cy="1162050"/>
          </a:xfrm>
          <a:prstGeom prst="roundRect">
            <a:avLst>
              <a:gd name="adj" fmla="val 9836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210550" y="51625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93C5FD"/>
                </a:solidFill>
                <a:latin typeface="Noto Sans SC"/>
                <a:ea typeface="Noto Sans SC"/>
              </a:rPr>
              <a:t>本章核心一问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210550" y="5391150"/>
            <a:ext cx="2933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8FAFC"/>
                </a:solidFill>
                <a:latin typeface="Noto Sans SC"/>
                <a:ea typeface="Noto Sans SC"/>
              </a:rPr>
              <a:t>这些痛点多数的企业都有，为什么真正做成的很少？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制造企业的知识，卡在三个地方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三条痛点全部来自一线实践口径，不是想象出来的需求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47700" y="1371600"/>
            <a:ext cx="7239000" cy="1533525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47700" y="1371600"/>
            <a:ext cx="7239000" cy="1533525"/>
          </a:xfrm>
          <a:custGeom>
            <a:pathLst>
              <a:path w="760" h="161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151"/>
                </a:lnTo>
                <a:cubicBezTo>
                  <a:pt x="4" y="155"/>
                  <a:pt x="7" y="159"/>
                  <a:pt x="11" y="161"/>
                </a:cubicBezTo>
                <a:cubicBezTo>
                  <a:pt x="5" y="159"/>
                  <a:pt x="0" y="154"/>
                  <a:pt x="0" y="147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857250" y="18954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019300"/>
            <a:ext cx="247650" cy="247650"/>
          </a:xfrm>
          <a:prstGeom prst="rect">
            <a:avLst/>
          </a:prstGeom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524000" y="167640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Noto Sans SC"/>
                <a:ea typeface="Noto Sans SC"/>
              </a:rPr>
              <a:t>跨部门同步「以天计」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714750" y="16764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痛点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 xml:space="preserve"> ①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524000" y="1990725"/>
            <a:ext cx="61150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75569"/>
                </a:solidFill>
                <a:latin typeface="Noto Sans SC"/>
                <a:ea typeface="Noto Sans SC"/>
              </a:rPr>
              <a:t>进度散落在各部门系统与微信群里，跨部门对齐一件事要以天计——信息在，链路不在。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47700" y="3057525"/>
            <a:ext cx="7239000" cy="1543050"/>
          </a:xfrm>
          <a:prstGeom prst="roundRect">
            <a:avLst>
              <a:gd name="adj" fmla="val 8642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47700" y="3057525"/>
            <a:ext cx="7239000" cy="1543050"/>
          </a:xfrm>
          <a:custGeom>
            <a:pathLst>
              <a:path w="760" h="162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152"/>
                </a:lnTo>
                <a:cubicBezTo>
                  <a:pt x="4" y="156"/>
                  <a:pt x="7" y="160"/>
                  <a:pt x="11" y="162"/>
                </a:cubicBezTo>
                <a:cubicBezTo>
                  <a:pt x="5" y="160"/>
                  <a:pt x="0" y="155"/>
                  <a:pt x="0" y="14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857250" y="35814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705225"/>
            <a:ext cx="247650" cy="247650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524000" y="3371850"/>
            <a:ext cx="3638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Noto Sans SC"/>
                <a:ea typeface="Noto Sans SC"/>
              </a:rPr>
              <a:t>取数三件套：问人</a:t>
            </a:r>
            <a:r>
              <a:rPr lang="en-US" sz="1650" b="1">
                <a:solidFill>
                  <a:srgbClr val="0F172A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650" b="1">
                <a:solidFill>
                  <a:srgbClr val="0F172A"/>
                </a:solidFill>
                <a:latin typeface="Noto Sans SC"/>
                <a:ea typeface="Noto Sans SC"/>
              </a:rPr>
              <a:t>导</a:t>
            </a:r>
            <a:r>
              <a:rPr lang="en-US" sz="1650" b="1">
                <a:solidFill>
                  <a:srgbClr val="0F172A"/>
                </a:solidFill>
                <a:latin typeface="Noto Sans SC"/>
                <a:ea typeface="Noto Sans SC"/>
              </a:rPr>
              <a:t xml:space="preserve"> Excel · </a:t>
            </a:r>
            <a:r>
              <a:rPr lang="zh-CN" sz="1650" b="1">
                <a:solidFill>
                  <a:srgbClr val="0F172A"/>
                </a:solidFill>
                <a:latin typeface="Noto Sans SC"/>
                <a:ea typeface="Noto Sans SC"/>
              </a:rPr>
              <a:t>写</a:t>
            </a:r>
            <a:r>
              <a:rPr lang="en-US" sz="1650" b="1">
                <a:solidFill>
                  <a:srgbClr val="0F172A"/>
                </a:solidFill>
                <a:latin typeface="Noto Sans SC"/>
                <a:ea typeface="Noto Sans SC"/>
              </a:rPr>
              <a:t xml:space="preserve"> SQL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257800" y="33718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痛点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 xml:space="preserve"> ②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524000" y="3686175"/>
            <a:ext cx="61150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75569"/>
                </a:solidFill>
                <a:latin typeface="Noto Sans SC"/>
                <a:ea typeface="Noto Sans SC"/>
              </a:rPr>
              <a:t>要一个数，先问人、再导表、不行就写</a:t>
            </a:r>
            <a:r>
              <a:rPr lang="en-US" sz="1275">
                <a:solidFill>
                  <a:srgbClr val="475569"/>
                </a:solidFill>
                <a:latin typeface="Noto Sans SC"/>
                <a:ea typeface="Noto Sans SC"/>
              </a:rPr>
              <a:t xml:space="preserve"> SQL——</a:t>
            </a:r>
            <a:r>
              <a:rPr lang="zh-CN" sz="1275">
                <a:solidFill>
                  <a:srgbClr val="475569"/>
                </a:solidFill>
                <a:latin typeface="Noto Sans SC"/>
                <a:ea typeface="Noto Sans SC"/>
              </a:rPr>
              <a:t>取数成本高到「宁可拍脑袋」，数据始终到不了决策桌上。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47700" y="4752975"/>
            <a:ext cx="7239000" cy="1533525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47700" y="4752975"/>
            <a:ext cx="7239000" cy="1533525"/>
          </a:xfrm>
          <a:custGeom>
            <a:pathLst>
              <a:path w="760" h="161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151"/>
                </a:lnTo>
                <a:cubicBezTo>
                  <a:pt x="4" y="155"/>
                  <a:pt x="7" y="159"/>
                  <a:pt x="11" y="161"/>
                </a:cubicBezTo>
                <a:cubicBezTo>
                  <a:pt x="5" y="159"/>
                  <a:pt x="0" y="154"/>
                  <a:pt x="0" y="147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57250" y="52768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400675"/>
            <a:ext cx="247650" cy="247650"/>
          </a:xfrm>
          <a:prstGeom prst="rect">
            <a:avLst/>
          </a:prstGeom>
          <a:ln/>
        </p:spPr>
      </p:pic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524000" y="5057775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Noto Sans SC"/>
                <a:ea typeface="Noto Sans SC"/>
              </a:rPr>
              <a:t>跨部门取证靠打电话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505200" y="50577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JetBrains Mono"/>
                <a:ea typeface="JetBrains Mono"/>
              </a:rPr>
              <a:t>痛点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 xml:space="preserve"> ③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524000" y="5372100"/>
            <a:ext cx="61150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75569"/>
                </a:solidFill>
                <a:latin typeface="Noto Sans SC"/>
                <a:ea typeface="Noto Sans SC"/>
              </a:rPr>
              <a:t>停线、缺料、客诉的取证靠打电话，闭环周期长；结论留在聊天记录里，同类问题第二次发生时，系统没有任何记忆。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191500" y="1390650"/>
            <a:ext cx="523875" cy="1143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0" b="1">
                <a:gradFill>
                  <a:gsLst>
                    <a:gs pos="0">
                      <a:srgbClr val="F97316"/>
                    </a:gs>
                    <a:gs pos="100000">
                      <a:srgbClr val="FBBF24"/>
                    </a:gs>
                  </a:gsLst>
                  <a:lin ang="2700000" scaled="1"/>
                </a:gra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867775" y="1762125"/>
            <a:ext cx="962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300">
                <a:solidFill>
                  <a:srgbClr val="475569"/>
                </a:solidFill>
                <a:latin typeface="Noto Sans SC"/>
                <a:ea typeface="Noto Sans SC"/>
              </a:rPr>
              <a:t>处卡点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867775" y="2019300"/>
            <a:ext cx="962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94A3B8"/>
                </a:solidFill>
                <a:latin typeface="JetBrains Mono"/>
                <a:ea typeface="JetBrains Mono"/>
              </a:rPr>
              <a:t>PAIN POINTS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10467975" y="1533525"/>
            <a:ext cx="1114425" cy="238125"/>
          </a:xfrm>
          <a:prstGeom prst="roundRect">
            <a:avLst>
              <a:gd name="adj" fmla="val 3996000"/>
            </a:avLst>
          </a:prstGeom>
          <a:ln w="1270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582275" y="158115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97316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801350" y="15716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跨部门同步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10868025" y="1847850"/>
            <a:ext cx="714375" cy="238125"/>
          </a:xfrm>
          <a:prstGeom prst="roundRect">
            <a:avLst>
              <a:gd name="adj" fmla="val 3996000"/>
            </a:avLst>
          </a:prstGeom>
          <a:ln w="1270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0982325" y="1895475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97316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201400" y="18859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取数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10868025" y="2162175"/>
            <a:ext cx="714375" cy="238125"/>
          </a:xfrm>
          <a:prstGeom prst="roundRect">
            <a:avLst>
              <a:gd name="adj" fmla="val 3996000"/>
            </a:avLst>
          </a:prstGeom>
          <a:ln w="1270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0982325" y="2209800"/>
            <a:ext cx="142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97316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201400" y="22002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取证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8191500" y="2667000"/>
            <a:ext cx="3390900" cy="3619500"/>
          </a:xfrm>
          <a:prstGeom prst="roundRect">
            <a:avLst>
              <a:gd name="adj" fmla="val 4494"/>
            </a:avLst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401050" y="3124200"/>
            <a:ext cx="2971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850">
                <a:solidFill>
                  <a:srgbClr val="F97316"/>
                </a:solidFill>
                <a:latin typeface="Georgia"/>
                <a:ea typeface="Georgia"/>
              </a:rPr>
              <a:t>“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401050" y="3581400"/>
            <a:ext cx="2971800" cy="14668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8FAFC"/>
                </a:solidFill>
                <a:latin typeface="Noto Sans SC"/>
                <a:ea typeface="Noto Sans SC"/>
              </a:rPr>
              <a:t>不是缺工具，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F8FAFC"/>
                </a:solidFill>
                <a:latin typeface="Noto Sans SC"/>
                <a:ea typeface="Noto Sans SC"/>
              </a:rPr>
              <a:t>是缺一条把「提问</a:t>
            </a:r>
            <a:r>
              <a:rPr lang="en-US" sz="1500">
                <a:solidFill>
                  <a:srgbClr val="F8FAFC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500">
                <a:solidFill>
                  <a:srgbClr val="F8FAFC"/>
                </a:solidFill>
                <a:latin typeface="Noto Sans SC"/>
                <a:ea typeface="Noto Sans SC"/>
              </a:rPr>
              <a:t>取证</a:t>
            </a:r>
            <a:endParaRPr/>
          </a:p>
          <a:p>
            <a:pPr>
              <a:lnSpc>
                <a:spcPct val="160000"/>
              </a:lnSpc>
            </a:pPr>
            <a:r>
              <a:rPr lang="en-US" sz="1500">
                <a:solidFill>
                  <a:srgbClr val="F8FAFC"/>
                </a:solidFill>
                <a:latin typeface="Noto Sans SC"/>
                <a:ea typeface="Noto Sans SC"/>
              </a:rPr>
              <a:t xml:space="preserve">→ </a:t>
            </a:r>
            <a:r>
              <a:rPr lang="zh-CN" sz="1500">
                <a:solidFill>
                  <a:srgbClr val="F8FAFC"/>
                </a:solidFill>
                <a:latin typeface="Noto Sans SC"/>
                <a:ea typeface="Noto Sans SC"/>
              </a:rPr>
              <a:t>决策</a:t>
            </a:r>
            <a:r>
              <a:rPr lang="en-US" sz="1500">
                <a:solidFill>
                  <a:srgbClr val="F8FAFC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500">
                <a:solidFill>
                  <a:srgbClr val="F8FAFC"/>
                </a:solidFill>
                <a:latin typeface="Noto Sans SC"/>
                <a:ea typeface="Noto Sans SC"/>
              </a:rPr>
              <a:t>留痕」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F8FAFC"/>
                </a:solidFill>
                <a:latin typeface="Noto Sans SC"/>
                <a:ea typeface="Noto Sans SC"/>
              </a:rPr>
              <a:t>串起来的链路。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8401050" y="5181600"/>
            <a:ext cx="2971800" cy="9525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401050" y="5305425"/>
            <a:ext cx="2971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94A3B8"/>
                </a:solidFill>
                <a:latin typeface="Noto Sans SC"/>
                <a:ea typeface="Noto Sans SC"/>
              </a:rPr>
              <a:t>工具已经很多，缺的是把散落的系统、表格和电话，收敛成一条每一步可审计的链路。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04 / 20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一个平台，把异常响应收敛成一条可审计链路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产品一页看懂：先看它是什么，再看它由什么组成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09600" y="1333500"/>
            <a:ext cx="6286500" cy="3533775"/>
          </a:xfrm>
          <a:prstGeom prst="roundRect">
            <a:avLst>
              <a:gd name="adj" fmla="val 3235"/>
            </a:avLst>
          </a:prstGeom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333" name=""/>
          <p:cNvPicPr>
            <a:picLocks noChangeAspect="1"/>
          </p:cNvPicPr>
          <p:nvPr/>
        </p:nvPicPr>
        <p:blipFill>
          <a:blip r:embed="rId1"/>
          <a:srcRect l="0" t="33" r="0" b="33"/>
          <a:stretch>
            <a:fillRect/>
          </a:stretch>
        </p:blipFill>
        <p:spPr>
          <a:xfrm rot="0" flipH="0" flipV="0">
            <a:off x="609600" y="1333500"/>
            <a:ext cx="6286500" cy="3533775"/>
          </a:xfrm>
          <a:custGeom>
            <a:pathLst>
              <a:path w="660" h="371">
                <a:moveTo>
                  <a:pt x="648" y="0"/>
                </a:moveTo>
                <a:cubicBezTo>
                  <a:pt x="655" y="0"/>
                  <a:pt x="660" y="5"/>
                  <a:pt x="660" y="12"/>
                </a:cubicBezTo>
                <a:lnTo>
                  <a:pt x="660" y="359"/>
                </a:lnTo>
                <a:cubicBezTo>
                  <a:pt x="660" y="366"/>
                  <a:pt x="655" y="371"/>
                  <a:pt x="648" y="371"/>
                </a:cubicBezTo>
                <a:lnTo>
                  <a:pt x="12" y="371"/>
                </a:lnTo>
                <a:cubicBezTo>
                  <a:pt x="5" y="371"/>
                  <a:pt x="0" y="366"/>
                  <a:pt x="0" y="359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648" y="0"/>
                </a:lnTo>
                <a:close/>
              </a:path>
            </a:pathLst>
          </a:custGeom>
          <a:ln/>
        </p:spPr>
      </p:pic>
      <p:sp>
        <p:nvSpPr>
          <p:cNvPr id="334" name=""/>
          <p:cNvSpPr/>
          <p:nvPr/>
        </p:nvSpPr>
        <p:spPr>
          <a:xfrm rot="0" flipH="0" flipV="0">
            <a:off x="609600" y="5000625"/>
            <a:ext cx="6286500" cy="85725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800100" y="5314950"/>
            <a:ext cx="933450" cy="228600"/>
          </a:xfrm>
          <a:prstGeom prst="roundRect">
            <a:avLst>
              <a:gd name="adj" fmla="val 25000"/>
            </a:avLst>
          </a:prstGeom>
          <a:solidFill>
            <a:srgbClr val="2563EB">
              <a:alpha val="25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95350" y="53530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3C5FD"/>
                </a:solidFill>
                <a:latin typeface="JetBrains Mono"/>
                <a:ea typeface="JetBrains Mono"/>
              </a:rPr>
              <a:t>真实运行界面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885950" y="5153025"/>
            <a:ext cx="48196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E2E8F0"/>
                </a:solidFill>
                <a:latin typeface="Noto Sans SC"/>
                <a:ea typeface="Noto Sans SC"/>
              </a:rPr>
              <a:t>企业制度问答：提问「年假怎么休」，</a:t>
            </a:r>
            <a:r>
              <a:rPr lang="en-US" sz="1200">
                <a:solidFill>
                  <a:srgbClr val="E2E8F0"/>
                </a:solidFill>
                <a:latin typeface="Noto Sans SC"/>
                <a:ea typeface="Noto Sans SC"/>
              </a:rPr>
              <a:t>7ms</a:t>
            </a:r>
            <a:r>
              <a:rPr lang="en-US" sz="1200">
                <a:solidFill>
                  <a:srgbClr val="E2E8F0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200">
                <a:solidFill>
                  <a:srgbClr val="E2E8F0"/>
                </a:solidFill>
                <a:latin typeface="Noto Sans SC"/>
                <a:ea typeface="Noto Sans SC"/>
              </a:rPr>
              <a:t>返回、答案带制度出处、全程</a:t>
            </a:r>
            <a:r>
              <a:rPr lang="en-US" sz="1200">
                <a:solidFill>
                  <a:srgbClr val="E2E8F0"/>
                </a:solidFill>
                <a:latin typeface="Noto Sans SC"/>
                <a:ea typeface="Noto Sans SC"/>
              </a:rPr>
              <a:t xml:space="preserve"> 0 </a:t>
            </a:r>
            <a:r>
              <a:rPr lang="zh-CN" sz="1200">
                <a:solidFill>
                  <a:srgbClr val="E2E8F0"/>
                </a:solidFill>
                <a:latin typeface="Noto Sans SC"/>
                <a:ea typeface="Noto Sans SC"/>
              </a:rPr>
              <a:t>次</a:t>
            </a:r>
            <a:r>
              <a:rPr lang="en-US" sz="1200">
                <a:solidFill>
                  <a:srgbClr val="E2E8F0"/>
                </a:solidFill>
                <a:latin typeface="Noto Sans SC"/>
                <a:ea typeface="Noto Sans SC"/>
              </a:rPr>
              <a:t xml:space="preserve"> LLM </a:t>
            </a:r>
            <a:r>
              <a:rPr lang="zh-CN" sz="1200">
                <a:solidFill>
                  <a:srgbClr val="E2E8F0"/>
                </a:solidFill>
                <a:latin typeface="Noto Sans SC"/>
                <a:ea typeface="Noto Sans SC"/>
              </a:rPr>
              <a:t>调用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7277100" y="1333500"/>
            <a:ext cx="4305300" cy="104775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448550" y="1466850"/>
            <a:ext cx="396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0AF"/>
                </a:solidFill>
                <a:latin typeface="Noto Sans SC"/>
                <a:ea typeface="Noto Sans SC"/>
              </a:rPr>
              <a:t>制造业多智能体协同平台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448550" y="1733550"/>
            <a:ext cx="3962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LangGraph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编排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人工在环会签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· Text2SQL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只读治理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本地增强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RAG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，每一步都有事件流、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SQL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溯源和权限校验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277100" y="2514600"/>
            <a:ext cx="430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94A3B8"/>
                </a:solidFill>
                <a:latin typeface="JetBrains Mono"/>
                <a:ea typeface="JetBrains Mono"/>
              </a:rPr>
              <a:t>核心链路</a:t>
            </a:r>
            <a:r>
              <a:rPr lang="en-US" sz="1050" spc="150">
                <a:solidFill>
                  <a:srgbClr val="94A3B8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050" spc="150">
                <a:solidFill>
                  <a:srgbClr val="94A3B8"/>
                </a:solidFill>
                <a:latin typeface="JetBrains Mono"/>
                <a:ea typeface="JetBrains Mono"/>
              </a:rPr>
              <a:t>六步闭环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277100" y="278130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362825" y="282892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600950" y="28003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提问</a:t>
            </a:r>
            <a:endParaRPr/>
          </a:p>
        </p:txBody>
      </p:sp>
      <p:pic>
        <p:nvPicPr>
          <p:cNvPr id="3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449050" y="2828925"/>
            <a:ext cx="133350" cy="133350"/>
          </a:xfrm>
          <a:prstGeom prst="rect">
            <a:avLst/>
          </a:prstGeom>
          <a:ln/>
        </p:spPr>
      </p:pic>
      <p:sp>
        <p:nvSpPr>
          <p:cNvPr id="346" name=""/>
          <p:cNvSpPr/>
          <p:nvPr/>
        </p:nvSpPr>
        <p:spPr>
          <a:xfrm rot="0" flipH="0" flipV="0">
            <a:off x="7277100" y="318135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362825" y="32289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600950" y="32004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路由：规则快路径</a:t>
            </a: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闭集分类</a:t>
            </a:r>
            <a:endParaRPr/>
          </a:p>
        </p:txBody>
      </p:sp>
      <p:pic>
        <p:nvPicPr>
          <p:cNvPr id="3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449050" y="3228975"/>
            <a:ext cx="133350" cy="133350"/>
          </a:xfrm>
          <a:prstGeom prst="rect">
            <a:avLst/>
          </a:prstGeom>
          <a:ln/>
        </p:spPr>
      </p:pic>
      <p:sp>
        <p:nvSpPr>
          <p:cNvPr id="350" name=""/>
          <p:cNvSpPr/>
          <p:nvPr/>
        </p:nvSpPr>
        <p:spPr>
          <a:xfrm rot="0" flipH="0" flipV="0">
            <a:off x="7277100" y="358140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362825" y="362902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600950" y="3600450"/>
            <a:ext cx="2705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多域并行取证（品质</a:t>
            </a: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供应链</a:t>
            </a: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设备）</a:t>
            </a:r>
            <a:endParaRPr/>
          </a:p>
        </p:txBody>
      </p:sp>
      <p:pic>
        <p:nvPicPr>
          <p:cNvPr id="3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449050" y="3629025"/>
            <a:ext cx="133350" cy="133350"/>
          </a:xfrm>
          <a:prstGeom prst="rect">
            <a:avLst/>
          </a:prstGeom>
          <a:ln/>
        </p:spPr>
      </p:pic>
      <p:sp>
        <p:nvSpPr>
          <p:cNvPr id="354" name=""/>
          <p:cNvSpPr/>
          <p:nvPr/>
        </p:nvSpPr>
        <p:spPr>
          <a:xfrm rot="0" flipH="0" flipV="0">
            <a:off x="7277100" y="398145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362825" y="40290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7600950" y="4000500"/>
            <a:ext cx="1885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生成工单（状态机</a:t>
            </a: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 + SLA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）</a:t>
            </a:r>
            <a:endParaRPr/>
          </a:p>
        </p:txBody>
      </p:sp>
      <p:pic>
        <p:nvPicPr>
          <p:cNvPr id="3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449050" y="4029075"/>
            <a:ext cx="133350" cy="133350"/>
          </a:xfrm>
          <a:prstGeom prst="rect">
            <a:avLst/>
          </a:prstGeom>
          <a:ln/>
        </p:spPr>
      </p:pic>
      <p:sp>
        <p:nvSpPr>
          <p:cNvPr id="358" name=""/>
          <p:cNvSpPr/>
          <p:nvPr/>
        </p:nvSpPr>
        <p:spPr>
          <a:xfrm rot="0" flipH="0" flipV="0">
            <a:off x="7277100" y="438150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7362825" y="442912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600950" y="440055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人工会签（一人一签，幂等）</a:t>
            </a:r>
            <a:endParaRPr/>
          </a:p>
        </p:txBody>
      </p:sp>
      <p:pic>
        <p:nvPicPr>
          <p:cNvPr id="3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449050" y="4429125"/>
            <a:ext cx="133350" cy="133350"/>
          </a:xfrm>
          <a:prstGeom prst="rect">
            <a:avLst/>
          </a:prstGeom>
          <a:ln/>
        </p:spPr>
      </p:pic>
      <p:sp>
        <p:nvSpPr>
          <p:cNvPr id="362" name=""/>
          <p:cNvSpPr/>
          <p:nvPr/>
        </p:nvSpPr>
        <p:spPr>
          <a:xfrm rot="0" flipH="0" flipV="0">
            <a:off x="7277100" y="478155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362825" y="4829175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600950" y="480060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对客报告（结论可回放）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7277100" y="5210175"/>
            <a:ext cx="1009650" cy="628650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658100" y="530542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563EB"/>
                </a:solidFill>
                <a:latin typeface="JetBrains Mono"/>
                <a:ea typeface="JetBrains Mono"/>
              </a:rPr>
              <a:t>18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610475" y="56007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Noto Sans SC"/>
                <a:ea typeface="Noto Sans SC"/>
              </a:rPr>
              <a:t>智能体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8382000" y="5210175"/>
            <a:ext cx="1000125" cy="628650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820150" y="5305425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563EB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658225" y="5600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Noto Sans SC"/>
                <a:ea typeface="Noto Sans SC"/>
              </a:rPr>
              <a:t>协同场景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9477375" y="5210175"/>
            <a:ext cx="1009650" cy="628650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9858375" y="530542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563EB"/>
                </a:solidFill>
                <a:latin typeface="JetBrains Mono"/>
                <a:ea typeface="JetBrains Mono"/>
              </a:rPr>
              <a:t>31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9753600" y="5600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Noto Sans SC"/>
                <a:ea typeface="Noto Sans SC"/>
              </a:rPr>
              <a:t>演示岗位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10582275" y="5210175"/>
            <a:ext cx="1000125" cy="628650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0953750" y="5305425"/>
            <a:ext cx="2571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563EB"/>
                </a:solidFill>
                <a:latin typeface="JetBrains Mono"/>
                <a:ea typeface="JetBrains Mono"/>
              </a:rPr>
              <a:t>13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0858500" y="5600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Noto Sans SC"/>
                <a:ea typeface="Noto Sans SC"/>
              </a:rPr>
              <a:t>主导航屏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05 / 20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初衷落到工程：四条验收级的设计原则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全部摘自架构文档原文——每一条都能落到具体机制上验收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09600" y="1333500"/>
            <a:ext cx="3009900" cy="4953000"/>
          </a:xfrm>
          <a:prstGeom prst="roundRect">
            <a:avLst>
              <a:gd name="adj" fmla="val 443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1581150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563EB"/>
                </a:solidFill>
                <a:latin typeface="JetBrains Mono"/>
                <a:ea typeface="JetBrains Mono"/>
              </a:rPr>
              <a:t>PRINCIPLES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8200" y="1857375"/>
            <a:ext cx="2552700" cy="838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0F172A"/>
                </a:solidFill>
                <a:latin typeface="Noto Sans SC"/>
                <a:ea typeface="Noto Sans SC"/>
              </a:rPr>
              <a:t>我的初衷不是</a:t>
            </a:r>
            <a:endParaRPr/>
          </a:p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0F172A"/>
                </a:solidFill>
                <a:latin typeface="Noto Sans SC"/>
                <a:ea typeface="Noto Sans SC"/>
              </a:rPr>
              <a:t>用</a:t>
            </a:r>
            <a:r>
              <a:rPr lang="en-US" sz="1950" b="1">
                <a:solidFill>
                  <a:srgbClr val="0F172A"/>
                </a:solidFill>
                <a:latin typeface="Noto Sans SC"/>
                <a:ea typeface="Noto Sans SC"/>
              </a:rPr>
              <a:t xml:space="preserve"> AI </a:t>
            </a:r>
            <a:r>
              <a:rPr lang="zh-CN" sz="1950" b="1">
                <a:solidFill>
                  <a:srgbClr val="0F172A"/>
                </a:solidFill>
                <a:latin typeface="Noto Sans SC"/>
                <a:ea typeface="Noto Sans SC"/>
              </a:rPr>
              <a:t>炫技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838200" y="2847975"/>
            <a:ext cx="53340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38200" y="3048000"/>
            <a:ext cx="2552700" cy="2247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75569"/>
                </a:solidFill>
                <a:latin typeface="Noto Sans SC"/>
                <a:ea typeface="Noto Sans SC"/>
              </a:rPr>
              <a:t>是想让工厂里那些散落在系统、表格和电话里的知识，第一次变得可问、可查、可审计。所以每一条原则都必须能验收——说不出验收方式的口号，不进设计。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838200" y="5295900"/>
            <a:ext cx="25527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971550" y="5410200"/>
            <a:ext cx="22860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E40AF"/>
                </a:solidFill>
                <a:latin typeface="Noto Sans SC"/>
                <a:ea typeface="Noto Sans SC"/>
              </a:rPr>
              <a:t>可验收的初衷，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E40AF"/>
                </a:solidFill>
                <a:latin typeface="Noto Sans SC"/>
                <a:ea typeface="Noto Sans SC"/>
              </a:rPr>
              <a:t>才是真初衷。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3924300" y="1333500"/>
            <a:ext cx="76581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114800" y="1714500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819650" y="1524000"/>
            <a:ext cx="657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Noto Sans SC"/>
                <a:ea typeface="Noto Sans SC"/>
              </a:rPr>
              <a:t>数据质量优先于智能能力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819650" y="1781175"/>
            <a:ext cx="6572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数字一律来自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SQL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溯源；缺测量数据标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data_gap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并强制人工确认——缺数据也要人拍板，不编一个结论。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924300" y="2600325"/>
            <a:ext cx="76581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114800" y="298132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819650" y="2790825"/>
            <a:ext cx="657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Noto Sans SC"/>
                <a:ea typeface="Noto Sans SC"/>
              </a:rPr>
              <a:t>私有化部署，数据不出厂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4819650" y="3048000"/>
            <a:ext cx="6572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全栈本地可跑：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提供方可插拔（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Ollama /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任意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OpenAI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兼容网关），全部留空即进入离线降级模式，链路依然完整。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3924300" y="3867150"/>
            <a:ext cx="76581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114800" y="4248150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819650" y="4057650"/>
            <a:ext cx="657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Noto Sans SC"/>
                <a:ea typeface="Noto Sans SC"/>
              </a:rPr>
              <a:t>关键决策人在环路（</a:t>
            </a:r>
            <a:r>
              <a:rPr lang="en-US" sz="1500" b="1">
                <a:solidFill>
                  <a:srgbClr val="0F172A"/>
                </a:solidFill>
                <a:latin typeface="Noto Sans SC"/>
                <a:ea typeface="Noto Sans SC"/>
              </a:rPr>
              <a:t>HITL</a:t>
            </a:r>
            <a:r>
              <a:rPr lang="zh-CN" sz="1500" b="1">
                <a:solidFill>
                  <a:srgbClr val="0F172A"/>
                </a:solidFill>
                <a:latin typeface="Noto Sans SC"/>
                <a:ea typeface="Noto Sans SC"/>
              </a:rPr>
              <a:t>）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4819650" y="4314825"/>
            <a:ext cx="6572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会签一人一签、并发幂等；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Agent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身份只允许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*.propose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，持有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*.approve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直接启动失败——机器可以提案，不能批准。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3924300" y="5133975"/>
            <a:ext cx="76581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114800" y="551497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819650" y="5324475"/>
            <a:ext cx="657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Noto Sans SC"/>
                <a:ea typeface="Noto Sans SC"/>
              </a:rPr>
              <a:t>统计量代码计算，</a:t>
            </a:r>
            <a:r>
              <a:rPr lang="en-US" sz="1500" b="1">
                <a:solidFill>
                  <a:srgbClr val="0F172A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500" b="1">
                <a:solidFill>
                  <a:srgbClr val="0F172A"/>
                </a:solidFill>
                <a:latin typeface="Noto Sans SC"/>
                <a:ea typeface="Noto Sans SC"/>
              </a:rPr>
              <a:t>只做解读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819650" y="5581650"/>
            <a:ext cx="65722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CPK / Pp / Ppk /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柏拉图由纯函数计算、不经过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LLM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；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不可用时结论用模板并显式标注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degraded——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质量判异不信口。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06 / 20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16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0000"/>
                </a:srgbClr>
              </a:gs>
              <a:gs pos="48000">
                <a:srgbClr val="0F172A">
                  <a:alpha val="66000"/>
                </a:srgbClr>
              </a:gs>
              <a:gs pos="100000">
                <a:srgbClr val="0F172A">
                  <a:alpha val="34000"/>
                </a:srgbClr>
              </a:gs>
            </a:gsLst>
            <a:lin ang="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75">
                <a:solidFill>
                  <a:srgbClr val="7DD3FC"/>
                </a:solidFill>
                <a:latin typeface="JetBrains Mono"/>
                <a:ea typeface="JetBrains Mono"/>
              </a:rPr>
              <a:t>CHAPTER 02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2009775" y="533400"/>
            <a:ext cx="438150" cy="190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2581275" y="4572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JetBrains Mono"/>
                <a:ea typeface="JetBrains Mono"/>
              </a:rPr>
              <a:t>P08 – P16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67056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gradFill>
                  <a:gsLst>
                    <a:gs pos="0">
                      <a:srgbClr val="2563EB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3048000"/>
            <a:ext cx="6705600" cy="685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600" b="1">
                <a:solidFill>
                  <a:srgbClr val="FFFFFF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3600" b="1">
                <a:solidFill>
                  <a:srgbClr val="FFFFFF"/>
                </a:solidFill>
                <a:latin typeface="Noto Sans SC"/>
                <a:ea typeface="Noto Sans SC"/>
              </a:rPr>
              <a:t>模块：三层架构与搭建思路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09600" y="3943350"/>
            <a:ext cx="8001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09600" y="4171950"/>
            <a:ext cx="67056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BD5E1"/>
                </a:solidFill>
                <a:latin typeface="Noto Sans SC"/>
                <a:ea typeface="Noto Sans SC"/>
              </a:rPr>
              <a:t>今天的主场——一个知识问答模块，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CBD5E1"/>
                </a:solidFill>
                <a:latin typeface="Noto Sans SC"/>
                <a:ea typeface="Noto Sans SC"/>
              </a:rPr>
              <a:t>怎么从「能答」做到答得准、答得快、答得有出处。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09600" y="6076950"/>
            <a:ext cx="6705600" cy="9525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09600" y="62674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819150" y="6276975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000125" y="6238875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64748B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3829050" y="6248400"/>
            <a:ext cx="3486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JetBrains Mono"/>
                <a:ea typeface="JetBrains Mono"/>
              </a:rPr>
              <a:t>素材出处：</a:t>
            </a:r>
            <a:r>
              <a:rPr lang="en-US" sz="975">
                <a:solidFill>
                  <a:srgbClr val="64748B"/>
                </a:solidFill>
                <a:latin typeface="JetBrains Mono"/>
                <a:ea typeface="JetBrains Mono"/>
              </a:rPr>
              <a:t>docs/adr/ADR-001 · docs/edrag-optimization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7772400" y="457200"/>
            <a:ext cx="3810000" cy="5943600"/>
          </a:xfrm>
          <a:prstGeom prst="roundRect">
            <a:avLst>
              <a:gd name="adj" fmla="val 4000"/>
            </a:avLst>
          </a:prstGeom>
          <a:solidFill>
            <a:srgbClr val="0F172A">
              <a:alpha val="58000"/>
            </a:srgbClr>
          </a:solidFill>
          <a:ln w="12700">
            <a:solidFill>
              <a:srgbClr val="94A3B8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039100" y="723900"/>
            <a:ext cx="327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7DD3FC"/>
                </a:solidFill>
                <a:latin typeface="JetBrains Mono"/>
                <a:ea typeface="JetBrains Mono"/>
              </a:rPr>
              <a:t>本章九页</a:t>
            </a:r>
            <a:r>
              <a:rPr lang="en-US" sz="975" spc="225">
                <a:solidFill>
                  <a:srgbClr val="7DD3FC"/>
                </a:solidFill>
                <a:latin typeface="JetBrains Mono"/>
                <a:ea typeface="JetBrains Mono"/>
              </a:rPr>
              <a:t xml:space="preserve"> · IN THIS CHAPTER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8039100" y="1047750"/>
            <a:ext cx="3276600" cy="9525"/>
          </a:xfrm>
          <a:prstGeom prst="rect">
            <a:avLst/>
          </a:prstGeom>
          <a:solidFill>
            <a:srgbClr val="94A3B8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039100" y="1247775"/>
            <a:ext cx="49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P08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648700" y="12477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为什么是三层：两个坑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039100" y="1600200"/>
            <a:ext cx="42862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P09–P14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582025" y="1600200"/>
            <a:ext cx="27336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逐层拆解：总览</a:t>
            </a:r>
            <a:r>
              <a:rPr lang="en-US" sz="1350">
                <a:solidFill>
                  <a:srgbClr val="F1F5F9"/>
                </a:solidFill>
                <a:latin typeface="Noto Sans SC"/>
                <a:ea typeface="Noto Sans SC"/>
              </a:rPr>
              <a:t xml:space="preserve"> / L1 / </a:t>
            </a: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路由</a:t>
            </a:r>
            <a:r>
              <a:rPr lang="en-US" sz="1350">
                <a:solidFill>
                  <a:srgbClr val="F1F5F9"/>
                </a:solidFill>
                <a:latin typeface="Noto Sans SC"/>
                <a:ea typeface="Noto Sans SC"/>
              </a:rPr>
              <a:t xml:space="preserve"> / L2 / L0 / </a:t>
            </a: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兜底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039100" y="2066925"/>
            <a:ext cx="49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P15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648700" y="2066925"/>
            <a:ext cx="1762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效果：</a:t>
            </a:r>
            <a:r>
              <a:rPr lang="en-US" sz="1350">
                <a:solidFill>
                  <a:srgbClr val="F1F5F9"/>
                </a:solidFill>
                <a:latin typeface="Noto Sans SC"/>
                <a:ea typeface="Noto Sans SC"/>
              </a:rPr>
              <a:t xml:space="preserve">7ms </a:t>
            </a: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与</a:t>
            </a:r>
            <a:r>
              <a:rPr lang="en-US" sz="1350">
                <a:solidFill>
                  <a:srgbClr val="F1F5F9"/>
                </a:solidFill>
                <a:latin typeface="Noto Sans SC"/>
                <a:ea typeface="Noto Sans SC"/>
              </a:rPr>
              <a:t xml:space="preserve"> 2.7s </a:t>
            </a: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兼得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039100" y="2419350"/>
            <a:ext cx="495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P16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648700" y="241935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1F5F9"/>
                </a:solidFill>
                <a:latin typeface="Noto Sans SC"/>
                <a:ea typeface="Noto Sans SC"/>
              </a:rPr>
              <a:t>搭建思路：五条可复刻方法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8039100" y="5010150"/>
            <a:ext cx="3276600" cy="1162050"/>
          </a:xfrm>
          <a:prstGeom prst="roundRect">
            <a:avLst>
              <a:gd name="adj" fmla="val 9836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8210550" y="51625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93C5FD"/>
                </a:solidFill>
                <a:latin typeface="Noto Sans SC"/>
                <a:ea typeface="Noto Sans SC"/>
              </a:rPr>
              <a:t>本章核心一问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210550" y="5391150"/>
            <a:ext cx="2933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8FAFC"/>
                </a:solidFill>
                <a:latin typeface="Noto Sans SC"/>
                <a:ea typeface="Noto Sans SC"/>
              </a:rPr>
              <a:t>问一个制度问题，系统怎么在</a:t>
            </a:r>
            <a:r>
              <a:rPr lang="en-US" sz="1275">
                <a:solidFill>
                  <a:srgbClr val="F8FAFC"/>
                </a:solidFill>
                <a:latin typeface="Noto Sans SC"/>
                <a:ea typeface="Noto Sans SC"/>
              </a:rPr>
              <a:t xml:space="preserve"> 7ms </a:t>
            </a:r>
            <a:r>
              <a:rPr lang="zh-CN" sz="1275">
                <a:solidFill>
                  <a:srgbClr val="F8FAFC"/>
                </a:solidFill>
                <a:latin typeface="Noto Sans SC"/>
                <a:ea typeface="Noto Sans SC"/>
              </a:rPr>
              <a:t>内给出带出处的答案？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单一</a:t>
            </a: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 xml:space="preserve"> RAG 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的两个坑：答得慢，或答得偏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三层架构不是炫技，是拿这两个坑一个一个换回来的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609600" y="1333500"/>
            <a:ext cx="5048250" cy="2171700"/>
          </a:xfrm>
          <a:prstGeom prst="roundRect">
            <a:avLst>
              <a:gd name="adj" fmla="val 614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38200" y="1609725"/>
            <a:ext cx="1323975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gradFill>
                  <a:gsLst>
                    <a:gs pos="0">
                      <a:srgbClr val="F97316"/>
                    </a:gs>
                    <a:gs pos="100000">
                      <a:srgbClr val="FBBF24"/>
                    </a:gs>
                  </a:gsLst>
                  <a:lin ang="2700000" scaled="1"/>
                </a:gradFill>
                <a:latin typeface="JetBrains Mono"/>
                <a:ea typeface="JetBrains Mono"/>
              </a:rPr>
              <a:t>0ms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2276475" y="1609725"/>
            <a:ext cx="3810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9A3412"/>
                </a:solidFill>
                <a:latin typeface="Noto Sans SC"/>
                <a:ea typeface="Noto Sans SC"/>
              </a:rPr>
              <a:t>答偏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38200" y="2667000"/>
            <a:ext cx="45910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7C2D12"/>
                </a:solidFill>
                <a:latin typeface="Noto Sans SC"/>
                <a:ea typeface="Noto Sans SC"/>
              </a:rPr>
              <a:t>速查卡秒命中，但问「报销流程」时，一张不到</a:t>
            </a:r>
            <a:r>
              <a:rPr lang="en-US" sz="1200">
                <a:solidFill>
                  <a:srgbClr val="7C2D12"/>
                </a:solidFill>
                <a:latin typeface="Noto Sans SC"/>
                <a:ea typeface="Noto Sans SC"/>
              </a:rPr>
              <a:t xml:space="preserve"> 60 </a:t>
            </a:r>
            <a:r>
              <a:rPr lang="zh-CN" sz="1200">
                <a:solidFill>
                  <a:srgbClr val="7C2D12"/>
                </a:solidFill>
                <a:latin typeface="Noto Sans SC"/>
                <a:ea typeface="Noto Sans SC"/>
              </a:rPr>
              <a:t>字的卡片答不全——快，却没用。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5848350" y="21717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010275" y="2324100"/>
            <a:ext cx="180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JetBrains Mono"/>
                <a:ea typeface="JetBrains Mono"/>
              </a:rPr>
              <a:t>VS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534150" y="1333500"/>
            <a:ext cx="5048250" cy="2171700"/>
          </a:xfrm>
          <a:prstGeom prst="roundRect">
            <a:avLst>
              <a:gd name="adj" fmla="val 614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762750" y="1609725"/>
            <a:ext cx="1762125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gradFill>
                  <a:gsLst>
                    <a:gs pos="0">
                      <a:srgbClr val="2563EB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JetBrains Mono"/>
                <a:ea typeface="JetBrains Mono"/>
              </a:rPr>
              <a:t>2.6s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639175" y="1609725"/>
            <a:ext cx="3810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0AF"/>
                </a:solidFill>
                <a:latin typeface="Noto Sans SC"/>
                <a:ea typeface="Noto Sans SC"/>
              </a:rPr>
              <a:t>答对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762750" y="2667000"/>
            <a:ext cx="45910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E3A8A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200">
                <a:solidFill>
                  <a:srgbClr val="1E3A8A"/>
                </a:solidFill>
                <a:latin typeface="Noto Sans SC"/>
                <a:ea typeface="Noto Sans SC"/>
              </a:rPr>
              <a:t>检索完整文档再生成，答案可靠——但每个问题都要等近</a:t>
            </a:r>
            <a:r>
              <a:rPr lang="en-US" sz="1200">
                <a:solidFill>
                  <a:srgbClr val="1E3A8A"/>
                </a:solidFill>
                <a:latin typeface="Noto Sans SC"/>
                <a:ea typeface="Noto Sans SC"/>
              </a:rPr>
              <a:t xml:space="preserve"> 3 </a:t>
            </a:r>
            <a:r>
              <a:rPr lang="zh-CN" sz="1200">
                <a:solidFill>
                  <a:srgbClr val="1E3A8A"/>
                </a:solidFill>
                <a:latin typeface="Noto Sans SC"/>
                <a:ea typeface="Noto Sans SC"/>
              </a:rPr>
              <a:t>秒，高频场景等不起。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609600" y="3638550"/>
            <a:ext cx="10972800" cy="6858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838200" y="3810000"/>
            <a:ext cx="47625" cy="342900"/>
          </a:xfrm>
          <a:prstGeom prst="roundRect">
            <a:avLst>
              <a:gd name="adj" fmla="val 6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038225" y="3800475"/>
            <a:ext cx="96297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>
                <a:solidFill>
                  <a:srgbClr val="F8FAFC"/>
                </a:solidFill>
                <a:latin typeface="Noto Sans SC"/>
                <a:ea typeface="Noto Sans SC"/>
              </a:rPr>
              <a:t xml:space="preserve">0ms </a:t>
            </a:r>
            <a:r>
              <a:rPr lang="zh-CN" sz="1575">
                <a:solidFill>
                  <a:srgbClr val="F8FAFC"/>
                </a:solidFill>
                <a:latin typeface="Noto Sans SC"/>
                <a:ea typeface="Noto Sans SC"/>
              </a:rPr>
              <a:t>答偏，比</a:t>
            </a:r>
            <a:r>
              <a:rPr lang="en-US" sz="1575">
                <a:solidFill>
                  <a:srgbClr val="F8FAFC"/>
                </a:solidFill>
                <a:latin typeface="Noto Sans SC"/>
                <a:ea typeface="Noto Sans SC"/>
              </a:rPr>
              <a:t xml:space="preserve"> 2.6s </a:t>
            </a:r>
            <a:r>
              <a:rPr lang="zh-CN" sz="1575">
                <a:solidFill>
                  <a:srgbClr val="F8FAFC"/>
                </a:solidFill>
                <a:latin typeface="Noto Sans SC"/>
                <a:ea typeface="Noto Sans SC"/>
              </a:rPr>
              <a:t>答对更糟——用户问一次就走，不会给你第二次机会。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10820400" y="39052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97316"/>
                </a:solidFill>
                <a:latin typeface="JetBrains Mono"/>
                <a:ea typeface="JetBrains Mono"/>
              </a:rPr>
              <a:t>核心命题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09600" y="4457700"/>
            <a:ext cx="5419725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81050" y="46196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97316"/>
                </a:solidFill>
                <a:latin typeface="JetBrains Mono"/>
                <a:ea typeface="JetBrains Mono"/>
              </a:rPr>
              <a:t>坑</a:t>
            </a:r>
            <a:r>
              <a:rPr lang="en-US" sz="1050" b="1">
                <a:solidFill>
                  <a:srgbClr val="F97316"/>
                </a:solidFill>
                <a:latin typeface="JetBrains Mono"/>
                <a:ea typeface="JetBrains Mono"/>
              </a:rPr>
              <a:t xml:space="preserve"> 1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162050" y="4591050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Noto Sans SC"/>
                <a:ea typeface="Noto Sans SC"/>
              </a:rPr>
              <a:t>速查卡与完整文档严重不对称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781050" y="4857750"/>
            <a:ext cx="50768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48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张速查卡都不到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60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字，问流程类问题时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FAQ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命中反而答不全——不准比慢更致命。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162675" y="4457700"/>
            <a:ext cx="5419725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334125" y="46196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97316"/>
                </a:solidFill>
                <a:latin typeface="JetBrains Mono"/>
                <a:ea typeface="JetBrains Mono"/>
              </a:rPr>
              <a:t>坑</a:t>
            </a:r>
            <a:r>
              <a:rPr lang="en-US" sz="1050" b="1">
                <a:solidFill>
                  <a:srgbClr val="F97316"/>
                </a:solidFill>
                <a:latin typeface="JetBrains Mono"/>
                <a:ea typeface="JetBrains Mono"/>
              </a:rPr>
              <a:t xml:space="preserve"> 2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715125" y="4591050"/>
            <a:ext cx="2524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Noto Sans SC"/>
                <a:ea typeface="Noto Sans SC"/>
              </a:rPr>
              <a:t>用</a:t>
            </a:r>
            <a:r>
              <a:rPr lang="en-US" sz="1350" b="1">
                <a:solidFill>
                  <a:srgbClr val="0F172A"/>
                </a:solidFill>
                <a:latin typeface="Noto Sans SC"/>
                <a:ea typeface="Noto Sans SC"/>
              </a:rPr>
              <a:t xml:space="preserve"> LLM </a:t>
            </a:r>
            <a:r>
              <a:rPr lang="zh-CN" sz="1350" b="1">
                <a:solidFill>
                  <a:srgbClr val="0F172A"/>
                </a:solidFill>
                <a:latin typeface="Noto Sans SC"/>
                <a:ea typeface="Noto Sans SC"/>
              </a:rPr>
              <a:t>分类意图，本身就要</a:t>
            </a:r>
            <a:r>
              <a:rPr lang="en-US" sz="1350" b="1">
                <a:solidFill>
                  <a:srgbClr val="0F172A"/>
                </a:solidFill>
                <a:latin typeface="Noto Sans SC"/>
                <a:ea typeface="Noto Sans SC"/>
              </a:rPr>
              <a:t xml:space="preserve"> ~1.4s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334125" y="4857750"/>
            <a:ext cx="50768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每次提问先问一次大模型「你想问哪类」，属于负优化；词表路由是实测下来唯一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viable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的方案。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08 / 20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三层链路：</a:t>
            </a: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 xml:space="preserve">L0 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缓存</a:t>
            </a: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 xml:space="preserve"> → L1 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速查</a:t>
            </a: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意图路由</a:t>
            </a: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 xml:space="preserve"> → L2 RAG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每层只干自己擅长的，贵的后置——这是全部设计的出发点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609600" y="1295400"/>
            <a:ext cx="10972800" cy="2781300"/>
          </a:xfrm>
          <a:prstGeom prst="roundRect">
            <a:avLst>
              <a:gd name="adj" fmla="val 47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4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1390650"/>
            <a:ext cx="10668000" cy="2571750"/>
          </a:xfrm>
          <a:prstGeom prst="rect">
            <a:avLst/>
          </a:prstGeom>
          <a:ln/>
        </p:spPr>
      </p:pic>
      <p:sp>
        <p:nvSpPr>
          <p:cNvPr id="481" name=""/>
          <p:cNvSpPr/>
          <p:nvPr/>
        </p:nvSpPr>
        <p:spPr>
          <a:xfrm rot="0" flipH="0" flipV="0">
            <a:off x="609600" y="4210050"/>
            <a:ext cx="2657475" cy="2076450"/>
          </a:xfrm>
          <a:prstGeom prst="roundRect">
            <a:avLst>
              <a:gd name="adj" fmla="val 5505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742950" y="4333875"/>
            <a:ext cx="285750" cy="180975"/>
          </a:xfrm>
          <a:prstGeom prst="roundRect">
            <a:avLst>
              <a:gd name="adj" fmla="val 31579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819150" y="4352925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JetBrains Mono"/>
                <a:ea typeface="JetBrains Mono"/>
              </a:rPr>
              <a:t>L0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1104900" y="43243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Noto Sans SC"/>
                <a:ea typeface="Noto Sans SC"/>
              </a:rPr>
              <a:t>缓存层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42950" y="4591050"/>
            <a:ext cx="2390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只包</a:t>
            </a: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 L2 / direct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两条贵路径；</a:t>
            </a: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FAQ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任何写操作换命名空间，旧键自然失效。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742950" y="5095875"/>
            <a:ext cx="2390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E7490"/>
                </a:solidFill>
                <a:latin typeface="Noto Sans SC"/>
                <a:ea typeface="Noto Sans SC"/>
              </a:rPr>
              <a:t>缓存回放</a:t>
            </a:r>
            <a:r>
              <a:rPr lang="en-US" sz="975" b="1">
                <a:solidFill>
                  <a:srgbClr val="0E7490"/>
                </a:solidFill>
                <a:latin typeface="Noto Sans SC"/>
                <a:ea typeface="Noto Sans SC"/>
              </a:rPr>
              <a:t xml:space="preserve"> 19ms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42950" y="6038850"/>
            <a:ext cx="2390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core/cache.py · kbqa.py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3381375" y="4210050"/>
            <a:ext cx="2657475" cy="2076450"/>
          </a:xfrm>
          <a:prstGeom prst="roundRect">
            <a:avLst>
              <a:gd name="adj" fmla="val 550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3514725" y="4333875"/>
            <a:ext cx="285750" cy="180975"/>
          </a:xfrm>
          <a:prstGeom prst="roundRect">
            <a:avLst>
              <a:gd name="adj" fmla="val 31579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3590925" y="4352925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JetBrains Mono"/>
                <a:ea typeface="JetBrains Mono"/>
              </a:rPr>
              <a:t>L1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876675" y="43243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Noto Sans SC"/>
                <a:ea typeface="Noto Sans SC"/>
              </a:rPr>
              <a:t>速查层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514725" y="4591050"/>
            <a:ext cx="2390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48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张制度速查卡，词面加权计分</a:t>
            </a: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双闸</a:t>
            </a: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维度衰减，纯标准库零依赖。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3514725" y="5095875"/>
            <a:ext cx="2390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Noto Sans SC"/>
                <a:ea typeface="Noto Sans SC"/>
              </a:rPr>
              <a:t>命中</a:t>
            </a:r>
            <a:r>
              <a:rPr lang="en-US" sz="975" b="1">
                <a:solidFill>
                  <a:srgbClr val="1D4ED8"/>
                </a:solidFill>
                <a:latin typeface="Noto Sans SC"/>
                <a:ea typeface="Noto Sans SC"/>
              </a:rPr>
              <a:t xml:space="preserve"> 7ms · 0 </a:t>
            </a:r>
            <a:r>
              <a:rPr lang="zh-CN" sz="975" b="1">
                <a:solidFill>
                  <a:srgbClr val="1D4ED8"/>
                </a:solidFill>
                <a:latin typeface="Noto Sans SC"/>
                <a:ea typeface="Noto Sans SC"/>
              </a:rPr>
              <a:t>次</a:t>
            </a:r>
            <a:r>
              <a:rPr lang="en-US" sz="975" b="1">
                <a:solidFill>
                  <a:srgbClr val="1D4ED8"/>
                </a:solidFill>
                <a:latin typeface="Noto Sans SC"/>
                <a:ea typeface="Noto Sans SC"/>
              </a:rPr>
              <a:t xml:space="preserve"> LLM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514725" y="6038850"/>
            <a:ext cx="2390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kbqa_faq_match.py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153150" y="4210050"/>
            <a:ext cx="2657475" cy="2076450"/>
          </a:xfrm>
          <a:prstGeom prst="roundRect">
            <a:avLst>
              <a:gd name="adj" fmla="val 550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286500" y="4333875"/>
            <a:ext cx="381000" cy="180975"/>
          </a:xfrm>
          <a:prstGeom prst="roundRect">
            <a:avLst>
              <a:gd name="adj" fmla="val 31579"/>
            </a:avLst>
          </a:prstGeom>
          <a:solidFill>
            <a:srgbClr val="47556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362700" y="43529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JetBrains Mono"/>
                <a:ea typeface="JetBrains Mono"/>
              </a:rPr>
              <a:t>路由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743700" y="43243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Noto Sans SC"/>
                <a:ea typeface="Noto Sans SC"/>
              </a:rPr>
              <a:t>分流层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286500" y="4591050"/>
            <a:ext cx="2390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词表判断「问知识还是问模型」：域内走</a:t>
            </a: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 RAG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保出处，域外直答省时间。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286500" y="5095875"/>
            <a:ext cx="2390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334155"/>
                </a:solidFill>
                <a:latin typeface="Noto Sans SC"/>
                <a:ea typeface="Noto Sans SC"/>
              </a:rPr>
              <a:t xml:space="preserve">1000 </a:t>
            </a:r>
            <a:r>
              <a:rPr lang="zh-CN" sz="975" b="1">
                <a:solidFill>
                  <a:srgbClr val="334155"/>
                </a:solidFill>
                <a:latin typeface="Noto Sans SC"/>
                <a:ea typeface="Noto Sans SC"/>
              </a:rPr>
              <a:t>次路由</a:t>
            </a:r>
            <a:r>
              <a:rPr lang="en-US" sz="975" b="1">
                <a:solidFill>
                  <a:srgbClr val="334155"/>
                </a:solidFill>
                <a:latin typeface="Noto Sans SC"/>
                <a:ea typeface="Noto Sans SC"/>
              </a:rPr>
              <a:t xml:space="preserve"> &lt; 100ms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286500" y="6038850"/>
            <a:ext cx="2390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kbqa_intent.py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8924925" y="4210050"/>
            <a:ext cx="2657475" cy="2076450"/>
          </a:xfrm>
          <a:prstGeom prst="roundRect">
            <a:avLst>
              <a:gd name="adj" fmla="val 550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9058275" y="4333875"/>
            <a:ext cx="285750" cy="180975"/>
          </a:xfrm>
          <a:prstGeom prst="roundRect">
            <a:avLst>
              <a:gd name="adj" fmla="val 31579"/>
            </a:avLst>
          </a:prstGeom>
          <a:solidFill>
            <a:srgbClr val="1E40AF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9134475" y="4352925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JetBrains Mono"/>
                <a:ea typeface="JetBrains Mono"/>
              </a:rPr>
              <a:t>L2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9420225" y="43243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Noto Sans SC"/>
                <a:ea typeface="Noto Sans SC"/>
              </a:rPr>
              <a:t>检索层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058275" y="4591050"/>
            <a:ext cx="23907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双路混合召回</a:t>
            </a: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 + CrossEncoder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重排，答案必须挂出处，</a:t>
            </a: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挂了回放片段。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058275" y="5095875"/>
            <a:ext cx="2390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D4ED8"/>
                </a:solidFill>
                <a:latin typeface="Noto Sans SC"/>
                <a:ea typeface="Noto Sans SC"/>
              </a:rPr>
              <a:t>域内全程</a:t>
            </a:r>
            <a:r>
              <a:rPr lang="en-US" sz="975" b="1">
                <a:solidFill>
                  <a:srgbClr val="1D4ED8"/>
                </a:solidFill>
                <a:latin typeface="Noto Sans SC"/>
                <a:ea typeface="Noto Sans SC"/>
              </a:rPr>
              <a:t xml:space="preserve"> ~2.6s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058275" y="6038850"/>
            <a:ext cx="2390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rag_tools.py · kbqa.py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09 / 20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 xml:space="preserve">L1 · FAQ 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双闸匹配：答得快，更要答得准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词面加权计分</a:t>
            </a:r>
            <a:r>
              <a:rPr lang="en-US" sz="1200">
                <a:solidFill>
                  <a:srgbClr val="64748B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两道闸门</a:t>
            </a:r>
            <a:r>
              <a:rPr lang="en-US" sz="1200">
                <a:solidFill>
                  <a:srgbClr val="64748B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维度衰减，全部用评测集标定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1333500"/>
            <a:ext cx="6324600" cy="80010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81050" y="1466850"/>
            <a:ext cx="598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563EB"/>
                </a:solidFill>
                <a:latin typeface="JetBrains Mono"/>
                <a:ea typeface="JetBrains Mono"/>
              </a:rPr>
              <a:t>评分公式</a:t>
            </a:r>
            <a:r>
              <a:rPr lang="en-US" sz="1050" spc="150">
                <a:solidFill>
                  <a:srgbClr val="2563EB"/>
                </a:solidFill>
                <a:latin typeface="JetBrains Mono"/>
                <a:ea typeface="JetBrains Mono"/>
              </a:rPr>
              <a:t xml:space="preserve"> · SCORING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781050" y="1724025"/>
            <a:ext cx="157162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76300" y="1781175"/>
            <a:ext cx="1381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0AF"/>
                </a:solidFill>
                <a:latin typeface="JetBrains Mono"/>
                <a:ea typeface="JetBrains Mono"/>
              </a:rPr>
              <a:t>关键词</a:t>
            </a:r>
            <a:r>
              <a:rPr lang="en-US" sz="1050">
                <a:solidFill>
                  <a:srgbClr val="1E40AF"/>
                </a:solidFill>
                <a:latin typeface="JetBrains Mono"/>
                <a:ea typeface="JetBrains Mono"/>
              </a:rPr>
              <a:t xml:space="preserve"> × 2</a:t>
            </a:r>
            <a:r>
              <a:rPr lang="zh-CN" sz="1050">
                <a:solidFill>
                  <a:srgbClr val="1E40AF"/>
                </a:solidFill>
                <a:latin typeface="JetBrains Mono"/>
                <a:ea typeface="JetBrains Mono"/>
              </a:rPr>
              <a:t>（封顶</a:t>
            </a:r>
            <a:r>
              <a:rPr lang="en-US" sz="1050">
                <a:solidFill>
                  <a:srgbClr val="1E40AF"/>
                </a:solidFill>
                <a:latin typeface="JetBrains Mono"/>
                <a:ea typeface="JetBrains Mono"/>
              </a:rPr>
              <a:t xml:space="preserve"> 6</a:t>
            </a:r>
            <a:r>
              <a:rPr lang="zh-CN" sz="1050">
                <a:solidFill>
                  <a:srgbClr val="1E40AF"/>
                </a:solidFill>
                <a:latin typeface="JetBrains Mono"/>
                <a:ea typeface="JetBrains Mono"/>
              </a:rPr>
              <a:t>）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2428875" y="178117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Noto Sans SC"/>
                <a:ea typeface="Noto Sans SC"/>
              </a:rPr>
              <a:t>+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2581275" y="1724025"/>
            <a:ext cx="75247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676525" y="1781175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0AF"/>
                </a:solidFill>
                <a:latin typeface="JetBrains Mono"/>
                <a:ea typeface="JetBrains Mono"/>
              </a:rPr>
              <a:t>标题</a:t>
            </a:r>
            <a:r>
              <a:rPr lang="en-US" sz="1050">
                <a:solidFill>
                  <a:srgbClr val="1E40AF"/>
                </a:solidFill>
                <a:latin typeface="JetBrains Mono"/>
                <a:ea typeface="JetBrains Mono"/>
              </a:rPr>
              <a:t xml:space="preserve"> × 3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409950" y="1781175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Noto Sans SC"/>
                <a:ea typeface="Noto Sans SC"/>
              </a:rPr>
              <a:t>+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3562350" y="1724025"/>
            <a:ext cx="75247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657600" y="1781175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40AF"/>
                </a:solidFill>
                <a:latin typeface="JetBrains Mono"/>
                <a:ea typeface="JetBrains Mono"/>
              </a:rPr>
              <a:t>内容</a:t>
            </a:r>
            <a:r>
              <a:rPr lang="en-US" sz="1050">
                <a:solidFill>
                  <a:srgbClr val="1E40AF"/>
                </a:solidFill>
                <a:latin typeface="JetBrains Mono"/>
                <a:ea typeface="JetBrains Mono"/>
              </a:rPr>
              <a:t xml:space="preserve"> × 1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391025" y="1781175"/>
            <a:ext cx="1781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Noto Sans SC"/>
                <a:ea typeface="Noto Sans SC"/>
              </a:rPr>
              <a:t>，除以</a:t>
            </a:r>
            <a:r>
              <a:rPr lang="en-US" sz="1125">
                <a:solidFill>
                  <a:srgbClr val="64748B"/>
                </a:solidFill>
                <a:latin typeface="Noto Sans SC"/>
                <a:ea typeface="Noto Sans SC"/>
              </a:rPr>
              <a:t xml:space="preserve"> 6 </a:t>
            </a:r>
            <a:r>
              <a:rPr lang="zh-CN" sz="1125">
                <a:solidFill>
                  <a:srgbClr val="64748B"/>
                </a:solidFill>
                <a:latin typeface="Noto Sans SC"/>
                <a:ea typeface="Noto Sans SC"/>
              </a:rPr>
              <a:t>归一；同题直中</a:t>
            </a:r>
            <a:r>
              <a:rPr lang="en-US" sz="1125">
                <a:solidFill>
                  <a:srgbClr val="64748B"/>
                </a:solidFill>
                <a:latin typeface="Noto Sans SC"/>
                <a:ea typeface="Noto Sans SC"/>
              </a:rPr>
              <a:t xml:space="preserve"> 1.0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09600" y="2266950"/>
            <a:ext cx="6324600" cy="3295650"/>
          </a:xfrm>
          <a:prstGeom prst="roundRect">
            <a:avLst>
              <a:gd name="adj" fmla="val 34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2381250"/>
            <a:ext cx="5905500" cy="2819400"/>
          </a:xfrm>
          <a:prstGeom prst="rect">
            <a:avLst/>
          </a:prstGeom>
          <a:ln/>
        </p:spPr>
      </p:pic>
      <p:sp>
        <p:nvSpPr>
          <p:cNvPr id="31" name=""/>
          <p:cNvSpPr/>
          <p:nvPr/>
        </p:nvSpPr>
        <p:spPr>
          <a:xfrm rot="0" flipH="0" flipV="0">
            <a:off x="609600" y="5695950"/>
            <a:ext cx="6324600" cy="590550"/>
          </a:xfrm>
          <a:prstGeom prst="roundRect">
            <a:avLst>
              <a:gd name="adj" fmla="val 19355"/>
            </a:avLst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800100" y="5829300"/>
            <a:ext cx="47625" cy="323850"/>
          </a:xfrm>
          <a:prstGeom prst="roundRect">
            <a:avLst>
              <a:gd name="adj" fmla="val 6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81075" y="5838825"/>
            <a:ext cx="57626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F8FAFC"/>
                </a:solidFill>
                <a:latin typeface="Noto Sans SC"/>
                <a:ea typeface="Noto Sans SC"/>
              </a:rPr>
              <a:t>阈值不是玄学，是拿</a:t>
            </a:r>
            <a:r>
              <a:rPr lang="en-US" sz="1350">
                <a:solidFill>
                  <a:srgbClr val="F8FAFC"/>
                </a:solidFill>
                <a:latin typeface="Noto Sans SC"/>
                <a:ea typeface="Noto Sans SC"/>
              </a:rPr>
              <a:t xml:space="preserve"> badcase </a:t>
            </a:r>
            <a:r>
              <a:rPr lang="zh-CN" sz="1350">
                <a:solidFill>
                  <a:srgbClr val="F8FAFC"/>
                </a:solidFill>
                <a:latin typeface="Noto Sans SC"/>
                <a:ea typeface="Noto Sans SC"/>
              </a:rPr>
              <a:t>一条条标定出来的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7277100" y="1333500"/>
            <a:ext cx="4343400" cy="157162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7277100" y="1333500"/>
            <a:ext cx="4343400" cy="1571625"/>
          </a:xfrm>
          <a:custGeom>
            <a:pathLst>
              <a:path w="456" h="16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57"/>
                </a:lnTo>
                <a:cubicBezTo>
                  <a:pt x="4" y="161"/>
                  <a:pt x="7" y="164"/>
                  <a:pt x="10" y="165"/>
                </a:cubicBezTo>
                <a:cubicBezTo>
                  <a:pt x="4" y="164"/>
                  <a:pt x="0" y="159"/>
                  <a:pt x="0" y="15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429500" y="1466850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563EB"/>
                </a:solidFill>
                <a:latin typeface="JetBrains Mono"/>
                <a:ea typeface="JetBrains Mono"/>
              </a:rPr>
              <a:t>理由</a:t>
            </a:r>
            <a:r>
              <a:rPr lang="en-US" sz="900">
                <a:solidFill>
                  <a:srgbClr val="2563EB"/>
                </a:solidFill>
                <a:latin typeface="JetBrains Mono"/>
                <a:ea typeface="JetBrains Mono"/>
              </a:rPr>
              <a:t xml:space="preserve"> 01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29500" y="1647825"/>
            <a:ext cx="400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Noto Sans SC"/>
                <a:ea typeface="Noto Sans SC"/>
              </a:rPr>
              <a:t>双闸防「看起来像」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429500" y="1914525"/>
            <a:ext cx="4000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分数高不等于答得对：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top1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与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top2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相差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0.15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以上，才算「明显更像」。单个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2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字符关键词也不能独自过闸。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7277100" y="3019425"/>
            <a:ext cx="4343400" cy="1581150"/>
          </a:xfrm>
          <a:prstGeom prst="roundRect">
            <a:avLst>
              <a:gd name="adj" fmla="val 7229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7277100" y="3019425"/>
            <a:ext cx="4343400" cy="1581150"/>
          </a:xfrm>
          <a:custGeom>
            <a:pathLst>
              <a:path w="456" h="16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58"/>
                </a:lnTo>
                <a:cubicBezTo>
                  <a:pt x="4" y="162"/>
                  <a:pt x="7" y="165"/>
                  <a:pt x="10" y="166"/>
                </a:cubicBezTo>
                <a:cubicBezTo>
                  <a:pt x="4" y="165"/>
                  <a:pt x="0" y="160"/>
                  <a:pt x="0" y="15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429500" y="315277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563EB"/>
                </a:solidFill>
                <a:latin typeface="JetBrains Mono"/>
                <a:ea typeface="JetBrains Mono"/>
              </a:rPr>
              <a:t>理由</a:t>
            </a:r>
            <a:r>
              <a:rPr lang="en-US" sz="900">
                <a:solidFill>
                  <a:srgbClr val="2563EB"/>
                </a:solidFill>
                <a:latin typeface="JetBrains Mono"/>
                <a:ea typeface="JetBrains Mono"/>
              </a:rPr>
              <a:t xml:space="preserve"> 02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429500" y="3333750"/>
            <a:ext cx="400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Noto Sans SC"/>
                <a:ea typeface="Noto Sans SC"/>
              </a:rPr>
              <a:t>维度衰减破平局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429500" y="3600450"/>
            <a:ext cx="4000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查询含流程词而候选不含（或反之），该侧得分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×0.8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。问流程时，流程卡自然压过单事实卡，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margin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拉到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0.2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277100" y="4714875"/>
            <a:ext cx="4343400" cy="157162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7277100" y="4714875"/>
            <a:ext cx="4343400" cy="1571625"/>
          </a:xfrm>
          <a:custGeom>
            <a:pathLst>
              <a:path w="456" h="16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57"/>
                </a:lnTo>
                <a:cubicBezTo>
                  <a:pt x="4" y="161"/>
                  <a:pt x="7" y="164"/>
                  <a:pt x="10" y="165"/>
                </a:cubicBezTo>
                <a:cubicBezTo>
                  <a:pt x="4" y="164"/>
                  <a:pt x="0" y="159"/>
                  <a:pt x="0" y="15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429500" y="4848225"/>
            <a:ext cx="4000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563EB"/>
                </a:solidFill>
                <a:latin typeface="JetBrains Mono"/>
                <a:ea typeface="JetBrains Mono"/>
              </a:rPr>
              <a:t>理由</a:t>
            </a:r>
            <a:r>
              <a:rPr lang="en-US" sz="900">
                <a:solidFill>
                  <a:srgbClr val="2563EB"/>
                </a:solidFill>
                <a:latin typeface="JetBrains Mono"/>
                <a:ea typeface="JetBrains Mono"/>
              </a:rPr>
              <a:t xml:space="preserve"> 03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429500" y="5029200"/>
            <a:ext cx="400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Noto Sans SC"/>
                <a:ea typeface="Noto Sans SC"/>
              </a:rPr>
              <a:t>全部来自评测标定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429500" y="5295900"/>
            <a:ext cx="4000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0.70 / 0.15 / ×0.8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用评测集逐条调出：流程类问法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10/10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命中流程卡，事实类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8/8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不走弯路。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10 / 20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意图路由：</a:t>
            </a: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>sub-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毫秒决定「问知识还是问模型」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域内走</a:t>
            </a:r>
            <a:r>
              <a:rPr lang="en-US" sz="1200">
                <a:solidFill>
                  <a:srgbClr val="64748B"/>
                </a:solidFill>
                <a:latin typeface="Noto Sans SC"/>
                <a:ea typeface="Noto Sans SC"/>
              </a:rPr>
              <a:t xml:space="preserve"> RAG </a:t>
            </a: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保出处，域外直答省时间——分流本身不花时间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09600" y="1333500"/>
            <a:ext cx="2857500" cy="4953000"/>
          </a:xfrm>
          <a:prstGeom prst="roundRect">
            <a:avLst>
              <a:gd name="adj" fmla="val 4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19150" y="15621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563EB"/>
                </a:solidFill>
                <a:latin typeface="JetBrains Mono"/>
                <a:ea typeface="JetBrains Mono"/>
              </a:rPr>
              <a:t>ROUTER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19150" y="1838325"/>
            <a:ext cx="2438400" cy="771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F172A"/>
                </a:solidFill>
                <a:latin typeface="Noto Sans SC"/>
                <a:ea typeface="Noto Sans SC"/>
              </a:rPr>
              <a:t>为什么不用</a:t>
            </a:r>
            <a:endParaRPr/>
          </a:p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0F172A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800" b="1">
                <a:solidFill>
                  <a:srgbClr val="0F172A"/>
                </a:solidFill>
                <a:latin typeface="Noto Sans SC"/>
                <a:ea typeface="Noto Sans SC"/>
              </a:rPr>
              <a:t>分类意图？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819150" y="2762250"/>
            <a:ext cx="53340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19150" y="2962275"/>
            <a:ext cx="2438400" cy="2352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每次提问先问一次大模型「你想问哪类」，一次分类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~1.4s——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检索还没开始，先付一次模型钱，属于负优化。</a:t>
            </a:r>
            <a:endParaRPr/>
          </a:p>
          <a:p>
            <a:pPr>
              <a:lnSpc>
                <a:spcPct val="165000"/>
              </a:lnSpc>
            </a:pPr>
            <a:r>
              <a:rPr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</a:t>
            </a:r>
            <a:endParaRPr/>
          </a:p>
          <a:p>
            <a:pPr>
              <a:lnSpc>
                <a:spcPct val="165000"/>
              </a:lnSpc>
            </a:pP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词表路由是实测下来唯一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viable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的方案：毫秒级、零依赖、行为可测试。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19150" y="5314950"/>
            <a:ext cx="24384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52500" y="5429250"/>
            <a:ext cx="21717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E40AF"/>
                </a:solidFill>
                <a:latin typeface="Noto Sans SC"/>
                <a:ea typeface="Noto Sans SC"/>
              </a:rPr>
              <a:t>路由层的价值：</a:t>
            </a:r>
            <a:endParaRPr/>
          </a:p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E40AF"/>
                </a:solidFill>
                <a:latin typeface="Noto Sans SC"/>
                <a:ea typeface="Noto Sans SC"/>
              </a:rPr>
              <a:t>别让贵路径处理便宜问题。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771900" y="1333500"/>
            <a:ext cx="7810500" cy="240030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86200" y="1409700"/>
            <a:ext cx="7334250" cy="2247900"/>
          </a:xfrm>
          <a:prstGeom prst="rect">
            <a:avLst/>
          </a:prstGeom>
          <a:ln/>
        </p:spPr>
      </p:pic>
      <p:sp>
        <p:nvSpPr>
          <p:cNvPr id="67" name=""/>
          <p:cNvSpPr/>
          <p:nvPr/>
        </p:nvSpPr>
        <p:spPr>
          <a:xfrm rot="0" flipH="0" flipV="0">
            <a:off x="3771900" y="3905250"/>
            <a:ext cx="2524125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771900" y="3905250"/>
            <a:ext cx="2524125" cy="1562100"/>
          </a:xfrm>
          <a:custGeom>
            <a:pathLst>
              <a:path w="265" h="164">
                <a:moveTo>
                  <a:pt x="254" y="0"/>
                </a:moveTo>
                <a:cubicBezTo>
                  <a:pt x="259" y="0"/>
                  <a:pt x="264" y="4"/>
                  <a:pt x="265" y="10"/>
                </a:cubicBezTo>
                <a:cubicBezTo>
                  <a:pt x="264" y="6"/>
                  <a:pt x="261" y="4"/>
                  <a:pt x="257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905250" y="4019550"/>
            <a:ext cx="22574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563EB"/>
                </a:solidFill>
                <a:latin typeface="JetBrains Mono"/>
                <a:ea typeface="JetBrains Mono"/>
              </a:rPr>
              <a:t>124 + 24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905250" y="4381500"/>
            <a:ext cx="225742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124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个域内词（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CJK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子串）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+ 24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个拉丁缩写（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VPN / ECN / 8D / CPK…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），词边界正则防「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MES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」命中「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TIMES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」。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905250" y="5181600"/>
            <a:ext cx="2257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kbqa_intent.py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410325" y="3905250"/>
            <a:ext cx="253365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410325" y="3905250"/>
            <a:ext cx="2533650" cy="1562100"/>
          </a:xfrm>
          <a:custGeom>
            <a:pathLst>
              <a:path w="266" h="164">
                <a:moveTo>
                  <a:pt x="255" y="0"/>
                </a:moveTo>
                <a:cubicBezTo>
                  <a:pt x="260" y="0"/>
                  <a:pt x="265" y="4"/>
                  <a:pt x="266" y="10"/>
                </a:cubicBezTo>
                <a:cubicBezTo>
                  <a:pt x="265" y="6"/>
                  <a:pt x="262" y="4"/>
                  <a:pt x="25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54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543675" y="4019550"/>
            <a:ext cx="2266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7490"/>
                </a:solidFill>
                <a:latin typeface="JetBrains Mono"/>
                <a:ea typeface="JetBrains Mono"/>
              </a:rPr>
              <a:t>&lt; 100ms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543675" y="4381500"/>
            <a:ext cx="22669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1000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次路由不到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100ms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：纯函数、零外部调用、不调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LLM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不查库——所以它放在链路最前面，先分流、后花钱。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543675" y="5181600"/>
            <a:ext cx="2266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test_kbqa_intent.py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9058275" y="3905250"/>
            <a:ext cx="2524125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9058275" y="3905250"/>
            <a:ext cx="2524125" cy="1562100"/>
          </a:xfrm>
          <a:custGeom>
            <a:pathLst>
              <a:path w="265" h="164">
                <a:moveTo>
                  <a:pt x="254" y="0"/>
                </a:moveTo>
                <a:cubicBezTo>
                  <a:pt x="259" y="0"/>
                  <a:pt x="264" y="4"/>
                  <a:pt x="265" y="10"/>
                </a:cubicBezTo>
                <a:cubicBezTo>
                  <a:pt x="264" y="6"/>
                  <a:pt x="261" y="4"/>
                  <a:pt x="257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53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191625" y="4019550"/>
            <a:ext cx="2257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2410C"/>
                </a:solidFill>
                <a:latin typeface="Noto Sans SC"/>
                <a:ea typeface="Noto Sans SC"/>
              </a:rPr>
              <a:t xml:space="preserve">how_to </a:t>
            </a:r>
            <a:r>
              <a:rPr lang="zh-CN" sz="1500" b="1">
                <a:solidFill>
                  <a:srgbClr val="C2410C"/>
                </a:solidFill>
                <a:latin typeface="Noto Sans SC"/>
                <a:ea typeface="Noto Sans SC"/>
              </a:rPr>
              <a:t>让位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191625" y="4305300"/>
            <a:ext cx="225742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含「怎么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如何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怎样」：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L1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即使命中也走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RAG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；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RAG miss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再回落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L1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，并明示「未找到完整流程」。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191625" y="5105400"/>
            <a:ext cx="2257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kbqa.py:198-233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771900" y="5562600"/>
            <a:ext cx="7810500" cy="47625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3962400" y="5657850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143375" y="5657850"/>
            <a:ext cx="72485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8FAFC"/>
                </a:solidFill>
                <a:latin typeface="Noto Sans SC"/>
                <a:ea typeface="Noto Sans SC"/>
              </a:rPr>
              <a:t>域内保出处、域外省时间、退化输入不误伤——三条规则全部有测试守护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11 / 20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>L2 · RAG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：混合召回</a:t>
            </a: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重排</a:t>
            </a: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带出处生成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双路召回保证「找得到」，重排保证「排得对」——没有</a:t>
            </a:r>
            <a:r>
              <a:rPr lang="en-US" sz="1200">
                <a:solidFill>
                  <a:srgbClr val="64748B"/>
                </a:solidFill>
                <a:latin typeface="Noto Sans SC"/>
                <a:ea typeface="Noto Sans SC"/>
              </a:rPr>
              <a:t xml:space="preserve"> rerank </a:t>
            </a: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的</a:t>
            </a:r>
            <a:r>
              <a:rPr lang="en-US" sz="1200">
                <a:solidFill>
                  <a:srgbClr val="64748B"/>
                </a:solidFill>
                <a:latin typeface="Noto Sans SC"/>
                <a:ea typeface="Noto Sans SC"/>
              </a:rPr>
              <a:t xml:space="preserve"> RAG </a:t>
            </a: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是把半成品递给用户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1295400"/>
            <a:ext cx="10972800" cy="2857500"/>
          </a:xfrm>
          <a:prstGeom prst="roundRect">
            <a:avLst>
              <a:gd name="adj" fmla="val 4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" y="1409700"/>
            <a:ext cx="10668000" cy="2628900"/>
          </a:xfrm>
          <a:prstGeom prst="rect">
            <a:avLst/>
          </a:prstGeom>
          <a:ln/>
        </p:spPr>
      </p:pic>
      <p:sp>
        <p:nvSpPr>
          <p:cNvPr id="96" name=""/>
          <p:cNvSpPr/>
          <p:nvPr/>
        </p:nvSpPr>
        <p:spPr>
          <a:xfrm rot="0" flipH="0" flipV="0">
            <a:off x="609600" y="4324350"/>
            <a:ext cx="35814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4324350"/>
            <a:ext cx="3581400" cy="2000250"/>
          </a:xfrm>
          <a:custGeom>
            <a:pathLst>
              <a:path w="376" h="210">
                <a:moveTo>
                  <a:pt x="365" y="0"/>
                </a:moveTo>
                <a:cubicBezTo>
                  <a:pt x="370" y="0"/>
                  <a:pt x="375" y="4"/>
                  <a:pt x="376" y="10"/>
                </a:cubicBezTo>
                <a:cubicBezTo>
                  <a:pt x="375" y="6"/>
                  <a:pt x="372" y="4"/>
                  <a:pt x="36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62000" y="443865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chunk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策略：按段切，不硬断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62000" y="4695825"/>
            <a:ext cx="3276600" cy="1343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按段落切块，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max_len 400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字符；超长按句切。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metadata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带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{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dept, dept_cn, source, chunk_index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}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——答案里的「第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N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段」出处就来自它。语料共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16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类制造制度、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48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个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md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文件、≥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400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个知识块，由播种管线统一灌入。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62000" y="6038850"/>
            <a:ext cx="3276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kbqa_seed.py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305300" y="4324350"/>
            <a:ext cx="35814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4305300" y="4324350"/>
            <a:ext cx="3581400" cy="2000250"/>
          </a:xfrm>
          <a:custGeom>
            <a:pathLst>
              <a:path w="376" h="210">
                <a:moveTo>
                  <a:pt x="365" y="0"/>
                </a:moveTo>
                <a:cubicBezTo>
                  <a:pt x="370" y="0"/>
                  <a:pt x="375" y="4"/>
                  <a:pt x="376" y="10"/>
                </a:cubicBezTo>
                <a:cubicBezTo>
                  <a:pt x="375" y="6"/>
                  <a:pt x="372" y="4"/>
                  <a:pt x="36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457700" y="443865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生成约束：出处是硬要求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457700" y="4695825"/>
            <a:ext cx="3276600" cy="1343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deepseek-flash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，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temperature 0.3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、思考关闭、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max_tokens 400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；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prompt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里拼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[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文件名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第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>N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段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]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的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context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，答案必须挂出处。压低随机性是为了可复现——同一问题，同一答案。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457700" y="6038850"/>
            <a:ext cx="3276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kbqa.py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8001000" y="4324350"/>
            <a:ext cx="35814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001000" y="4324350"/>
            <a:ext cx="3581400" cy="2000250"/>
          </a:xfrm>
          <a:custGeom>
            <a:pathLst>
              <a:path w="376" h="210">
                <a:moveTo>
                  <a:pt x="365" y="0"/>
                </a:moveTo>
                <a:cubicBezTo>
                  <a:pt x="370" y="0"/>
                  <a:pt x="375" y="4"/>
                  <a:pt x="376" y="10"/>
                </a:cubicBezTo>
                <a:cubicBezTo>
                  <a:pt x="375" y="6"/>
                  <a:pt x="372" y="4"/>
                  <a:pt x="36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153400" y="443865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不可用：回放原文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153400" y="4695825"/>
            <a:ext cx="3276600" cy="1343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模型挂了就回放最相关的知识片段，并显式标注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degraded=True——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宁可给原文，不给编造的答案。这一条保证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demo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在任何环境下都能完整跑完。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153400" y="6038850"/>
            <a:ext cx="3276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rag_tools.py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12 / 20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6" name="" descr="&lt;Slide style={{ width: 1280, height: 720, padding: 0, background: '#FFFFFF', fontFamily: '&quot;Noto Sans SC&quot;,&quot;Source Han Sans SC&quot;,&quot;PingFang SC&quot;,&quot;Microsoft YaHei&quot;,sans-serif' }}&gt;&#10;    &lt;Box style={{ height: 120, padding: '34px 64px 0', flexDirection: 'column' }}&gt;&#10;        &lt;Text style={{ fontSize: 34, fontWeight: 'bold', color: '#0F172A', lineHeight: 1.3 }}&gt;L0 · 缓存与版本治理：改一行知识，缓存自动失效&lt;/Text&gt;&#10;        &lt;Text style={{ fontSize: 16, color: '#64748B', marginTop: 8 }}&gt;缓存难点从来不是「存」，是「何时失效」&lt;/Text&gt;&#10;    &lt;/Box&gt;&#10;    &lt;Box style={{ height: 540, padding: '20px 64px 0', flexDirection: 'row', gap: 32 }}&gt;&#10;        &lt;Box style={{ width: 700, flexDirection: 'column', gap: 14 }}&gt;&#10;            &lt;Box style={{ background: '#0F172A', borderRadius: 14, padding: '20px 24px' }}&gt;&#10;                &lt;Text style={{ fontSize: 13, color: '#7DD3FC', letterSpacing: 3, fontFamily: '&quot;JetBrains Mono&quot;,&quot;Space Grotesk&quot;,Consolas,monospace' }}&gt;缓存键结构 · CACHE KEY&lt;/Text&gt;&#10;                &lt;Box style={{ flexDirection: 'row', alignItems: 'center', gap: 4, marginTop: 16, flexWrap: 'wrap' }}&gt;&#10;                    &lt;Text style={{ fontSize: 20, color: '#38BDF8', fontFamily: '&quot;JetBrains Mono&quot;,&quot;Space Grotesk&quot;,Consolas,monospace' }}&gt;mfg:kbqa:v2:&lt;/Text&gt;&#10;                    &lt;Text style={{ fontSize: 20, color: '#F97316', fontWeight: 'bold', fontFamily: '&quot;JetBrains Mono&quot;,&quot;Space Grotesk&quot;,Consolas,monospace' }}&gt;{'{faq_version}'}&lt;/Text&gt;&#10;                    &lt;Text style={{ fontSize: 20, color: '#64748B', fontFamily: '&quot;JetBrains Mono&quot;,&quot;Space Grotesk&quot;,Consolas,monospace' }}&gt;:&lt;/Text&gt;&#10;                    &lt;Text style={{ fontSize: 20, color: '#60A5FA', fontFamily: '&quot;JetBrains Mono&quot;,&quot;Space Grotesk&quot;,Consolas,monospace' }}&gt;{'{sha1(query|top_k)}'}&lt;/Text&gt;&#10;                &lt;/Box&gt;&#10;                &lt;Box style={{ flexDirection: 'row', gap: 26, marginTop: 18 }}&gt;&#10;                    &lt;Box style={{ flexDirection: 'row', alignItems: 'center', gap: 8 }}&gt;&#10;                        &lt;Box style={{ width: 10, height: 10, borderRadius: 5, background: '#38BDF8' }} /&gt;&#10;                        &lt;Text style={{ fontSize: 13, color: '#CBD5E1' }}&gt;固定命名空间&lt;/Text&gt;&#10;                    &lt;/Box&gt;&#10;                    &lt;Box style={{ flexDirection: 'row', alignItems: 'center', gap: 8 }}&gt;&#10;                        &lt;Box style={{ width: 10, height: 10, borderRadius: 5, background: '#F97316' }} /&gt;&#10;                        &lt;Text style={{ fontSize: 13, color: '#CBD5E1' }}&gt;版本戳：知识一改就换&lt;/Text&gt;&#10;                    &lt;/Box&gt;&#10;                    &lt;Box style={{ flexDirection: 'row', alignItems: 'center', gap: 8 }}&gt;&#10;                        &lt;Box style={{ width: 10, height: 10, borderRadius: 5, background: '#60A5FA' }} /&gt;&#10;                        &lt;Text style={{ fontSize: 13, color: '#CBD5E1' }}&gt;同题同参才命中&lt;/Text&gt;&#10;                    &lt;/Box&gt;&#10;                &lt;/Box&gt;&#10;            &lt;/Box&gt;&#10;            &lt;Box style={{ background: '#EFF6FF', border: '1px solid #BFDBFE', borderRadius: 12, padding: '14px 18px', flexDirection: 'column' }}&gt;&#10;                &lt;Text style={{ fontSize: 13, color: '#2563EB', letterSpacing: 2, fontFamily: '&quot;JetBrains Mono&quot;,&quot;Space Grotesk&quot;,Consolas,monospace' }}&gt;版本戳构成 · FAQ_VERSION&lt;/Text&gt;&#10;                &lt;Text style={{ fontSize: 17, color: '#0F172A', marginTop: 8, fontFamily: '&quot;JetBrains Mono&quot;,&quot;Space Grotesk&quot;,Consolas,monospace' }}&gt;policy:{'{count}'}:{'{max_id}'} | faq:{'{count}'}:{'{max_id}'}&lt;/Text&gt;&#10;                &lt;Text style={{ fontSize: 14, color: '#475569', lineHeight: 1.55, marginTop: 8 }}&gt;制度主数据与晋升 FAQ 的「条数 + 最大 ID」拼成版本戳。任何写操作都会改变它——缓存键随之换命名空间，旧键自然不可达，不需要主动失效，也没有竞态。&lt;/Text&gt;&#10;            &lt;/Box&gt;&#10;            &lt;Box style={{ background: '#F8FAFC', border: '1px solid #E2E8F0', borderRadius: 12, padding: '13px 18px', flexDirection: 'row', alignItems: 'center', gap: 14 }}&gt;&#10;                &lt;FAIcon name='bolt' style={{ fill: '#F97316', width: 26, height: 26 }} /&gt;&#10;                &lt;Text style={{ fontSize: 15, color: '#475569', lineHeight: 1.5, flex: 1 }}&gt;缓存只包 L2 / direct 两条贵路径；L1 命中（7ms）和路由（sub-ms）根本不值得缓存。&lt;/Text&gt;&#10;            &lt;/Box&gt;&#10;            &lt;Box style={{ background: '#0F172A', borderRadius: 12, padding: '13px 20px', flexDirection: 'row', alignItems: 'center', gap: 14 }}&gt;&#10;                &lt;Box style={{ width: 5, height: 32, borderRadius: 3, background: '#F97316' }} /&gt;&#10;                &lt;Text style={{ fontSize: 17, color: '#F8FAFC', lineHeight: 1.45, flex: 1 }}&gt;19ms 回放不是优化技巧，是版本治理的副产品&lt;/Text&gt;&#10;            &lt;/Box&gt;&#10;        &lt;/Box&gt;&#10;        &lt;Box style={{ flex: 1, flexDirection: 'column', gap: 12 }}&gt;&#10;            &lt;Box style={{ background: '#FFF7ED', border: '1px solid #FED7AA', borderRadius: 14, padding: '16px 20px' }}&gt;&#10;                &lt;Text style={{ fontSize: 12, color: '#B45309', letterSpacing: 2, fontFamily: '&quot;JetBrains Mono&quot;,&quot;Space Grotesk&quot;,Consolas,monospace' }}&gt;缓存回放 · CACHE REPLAY&lt;/Text&gt;&#10;                &lt;Box style={{ flexDirection: 'row', alignItems: 'center', gap: 16, marginTop: 10 }}&gt;&#10;                    &lt;Text style={{ fontSize: 64, fontWeight: 'bold', lineHeight: 1, backgroundImage: 'linear-gradient(135deg, #F97316 0%, #FBBF24 100%)', backgroundClip: 'text', color: 'transparent', fontFamily: '&quot;JetBrains Mono&quot;,&quot;Space Grotesk&quot;,Consolas,monospace' }}&gt;19ms&lt;/Text&gt;&#10;                    &lt;Box style={{ flex: 1 }}&gt;&#10;                        &lt;Text style={{ fontSize: 15, fontWeight: 'bold', color: '#9A3412', lineHeight: 1.4 }}&gt;对比：域内 RAG&lt;br /&gt;全程 2722ms&lt;/Text&gt;&#10;                        &lt;Text style={{ fontSize: 12, color: '#B45309', marginTop: 4 }}&gt;回放约为其 1/143&lt;/Text&gt;&#10;                    &lt;/Box&gt;&#10;                &lt;/Box&gt;&#10;            &lt;/Box&gt;&#10;            &lt;Box style={{ flex: 1, background: '#F8FAFC', border: '1px solid #E2E8F0', borderRadius: 12, padding: '12px 16px', flexDirection: 'column', gap: 10 }}&gt;&#10;                &lt;Box style={{ flexDirection: 'row', alignItems: 'flex-start', gap: 10 }}&gt;&#10;                    &lt;Box style={{ width: 22, height: 22, borderRadius: 6, background: '#2563EB', justifyContent: 'center', alignItems: 'center', marginTop: 2 }}&gt;&lt;Text style={{ fontSize: 11, color: '#FFFFFF', fontFamily: '&quot;JetBrains Mono&quot;,&quot;Space Grotesk&quot;,Consolas,monospace' }}&gt;1&lt;/Text&gt;&lt;/Box&gt;&#10;                    &lt;Box style={{ flex: 1 }}&gt;&#10;                        &lt;Text style={{ fontSize: 16, fontWeight: 'bold', color: '#0F172A' }}&gt;版本戳即失效&lt;/Text&gt;&#10;                        &lt;Text style={{ fontSize: 13, color: '#475569', lineHeight: 1.5, marginTop: 3 }}&gt;写操作换命名空间，旧键自然不可达——无定时清理、无竞态。&lt;/Text&gt;&#10;                    &lt;/Box&gt;&#10;                &lt;/Box&gt;&#10;                &lt;Box style={{ flexDirection: 'row', alignItems: 'flex-start', gap: 10 }}&gt;&#10;                    &lt;Box style={{ width: 22, height: 22, borderRadius: 6, background: '#2563EB', justifyContent: 'center', alignItems: 'center', marginTop: 2 }}&gt;&lt;Text style={{ fontSize: 11, color: '#FFFFFF', fontFamily: '&quot;JetBrains Mono&quot;,&quot;Space Grotesk&quot;,Consolas,monospace' }}&gt;2&lt;/Text&gt;&lt;/Box&gt;&#10;                    &lt;Box style={{ flex: 1 }}&gt;&#10;                        &lt;Text style={{ fontSize: 16, fontWeight: 'bold', color: '#0F172A' }}&gt;坏了不缓存&lt;/Text&gt;&#10;                        &lt;Text style={{ fontSize: 13, color: '#475569', lineHeight: 1.5, marginTop: 3 }}&gt;rag_unavailable / degraded 状态主动删除、绝不入缓存——不把坏答案存起来。&lt;/Text&gt;&#10;                    &lt;/Box&gt;&#10;                &lt;/Box&gt;&#10;                &lt;Box style={{ flexDirection: 'row', alignItems: 'flex-start', gap: 10 }}&gt;&#10;                    &lt;Box style={{ width: 22, height: 22, borderRadius: 6, background: '#2563EB', justifyContent: 'center', alignItems: 'center', marginTop: 2 }}&gt;&lt;Text style={{ fontSize: 11, color: '#FFFFFF', fontFamily: '&quot;JetBrains Mono&quot;,&quot;Space Grotesk&quot;,Consolas,monospace' }}&gt;3&lt;/Text&gt;&lt;/Box&gt;&#10;                    &lt;Box style={{ flex: 1 }}&gt;&#10;                        &lt;Text style={{ fontSize: 16, fontWeight: 'bold', color: '#0F172A' }}&gt;Redis 故障静默降级&lt;/Text&gt;&#10;                        &lt;Text style={{ fontSize: 13, color: '#475569', lineHeight: 1.5, marginTop: 3 }}&gt;连不上就无缓存运行 + 30s 冷却，绝不因为缓存挂掉而答不了问题。&lt;/Text&gt;&#10;                    &lt;/Box&gt;&#10;                &lt;/Box&gt;&#10;            &lt;/Box&gt;&#10;            &lt;Box style={{ background: '#ECFEFF', border: '1px solid #A5F3FC', borderRadius: 12, padding: '12px 18px', flexDirection: 'row', alignItems: 'center', gap: 12 }}&gt;&#10;                &lt;Text style={{ fontSize: 13, color: '#0E7490', fontFamily: '&quot;JetBrains Mono&quot;,&quot;Space Grotesk&quot;,Consolas,monospace' }}&gt;TTL&lt;/Text&gt;&#10;                &lt;Text style={{ fontSize: 22, fontWeight: 'bold', color: '#0E7490', fontFamily: '&quot;JetBrains Mono&quot;,&quot;Space Grotesk&quot;,Consolas,monospace' }}&gt;1800s&lt;/Text&gt;&#10;                &lt;Text style={{ fontSize: 13, color: '#155E75', flex: 1 }}&gt;双保险：版本戳管「内容变」，TTL 管「没人问」&lt;/Text&gt;&#10;            &lt;/Box&gt;&#10;        &lt;/Box&gt;&#10;    &lt;/Box&gt;&#10;    &lt;Box style={{ height: 60, flexDirection: 'row', alignItems: 'center', justifyContent: 'space-between', padding: '0 64px', position: 'relative' }}&gt;&#10;        &lt;Box style={{ flexDirection: 'row', alignItems: 'center', gap: 10 }}&gt;&#10;            &lt;Box style={{ width: 12, height: 12, borderRadius: 3, background: '#2563EB' }} /&gt;&#10;            &lt;Box style={{ width: 9, height: 9, borderRadius: 5, background: '#06B6D4' }} /&gt;&#10;            &lt;Text style={{ fontSize: 14, color: '#94A3B8' }}&gt;mfg-agent-platform · 独立开发实践分享&lt;/Text&gt;&#10;        &lt;/Box&gt;&#10;        &lt;Text style={{ fontSize: 14, color: '#94A3B8', fontFamily: '&quot;JetBrains Mono&quot;,&quot;Space Grotesk&quot;,Consolas,monospace' }}&gt;13 / 20&lt;/Text&gt;&#10;        &lt;Box style={{ position: 'absolute', bottom: 0, left: 0, width: 1280, height: 3, background: 'linear-gradient(90deg, #2563EB 0%, #06B6D4 55%, rgba(6,182,212,0) 100%)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0F172A"/>
                </a:solidFill>
                <a:latin typeface="Noto Sans SC"/>
                <a:ea typeface="Noto Sans SC"/>
              </a:rPr>
              <a:t xml:space="preserve">L0 · </a:t>
            </a: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缓存与版本治理：改一行知识，缓存自动失效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缓存难点从来不是「存」，是「何时失效」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9600" y="1333500"/>
            <a:ext cx="6667500" cy="1238250"/>
          </a:xfrm>
          <a:prstGeom prst="roundRect">
            <a:avLst>
              <a:gd name="adj" fmla="val 10769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38200" y="1524000"/>
            <a:ext cx="621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7DD3FC"/>
                </a:solidFill>
                <a:latin typeface="JetBrains Mono"/>
                <a:ea typeface="JetBrains Mono"/>
              </a:rPr>
              <a:t>缓存键结构</a:t>
            </a:r>
            <a:r>
              <a:rPr lang="en-US" sz="975" spc="225">
                <a:solidFill>
                  <a:srgbClr val="7DD3FC"/>
                </a:solidFill>
                <a:latin typeface="JetBrains Mono"/>
                <a:ea typeface="JetBrains Mono"/>
              </a:rPr>
              <a:t xml:space="preserve"> · CACHE KEY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8200" y="1828800"/>
            <a:ext cx="125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38BDF8"/>
                </a:solidFill>
                <a:latin typeface="JetBrains Mono"/>
                <a:ea typeface="JetBrains Mono"/>
              </a:rPr>
              <a:t>mfg:kbqa:v2: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2133600" y="1828800"/>
            <a:ext cx="1362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JetBrains Mono"/>
                <a:ea typeface="JetBrains Mono"/>
              </a:rPr>
              <a:t>{faq_version}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533775" y="1828800"/>
            <a:ext cx="104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64748B"/>
                </a:solidFill>
                <a:latin typeface="JetBrains Mono"/>
                <a:ea typeface="JetBrains Mono"/>
              </a:rPr>
              <a:t>: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676650" y="1828800"/>
            <a:ext cx="199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60A5FA"/>
                </a:solidFill>
                <a:latin typeface="JetBrains Mono"/>
                <a:ea typeface="JetBrains Mono"/>
              </a:rPr>
              <a:t>{sha1(query|top_k)}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838200" y="2257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09650" y="22288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D5E1"/>
                </a:solidFill>
                <a:latin typeface="Noto Sans SC"/>
                <a:ea typeface="Noto Sans SC"/>
              </a:rPr>
              <a:t>固定命名空间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2000250" y="2257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2171700" y="22288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D5E1"/>
                </a:solidFill>
                <a:latin typeface="Noto Sans SC"/>
                <a:ea typeface="Noto Sans SC"/>
              </a:rPr>
              <a:t>版本戳：知识一改就换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3657600" y="2257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29050" y="22288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D5E1"/>
                </a:solidFill>
                <a:latin typeface="Noto Sans SC"/>
                <a:ea typeface="Noto Sans SC"/>
              </a:rPr>
              <a:t>同题同参才命中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2705100"/>
            <a:ext cx="6667500" cy="1276350"/>
          </a:xfrm>
          <a:prstGeom prst="roundRect">
            <a:avLst>
              <a:gd name="adj" fmla="val 895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1050" y="2838450"/>
            <a:ext cx="6324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563EB"/>
                </a:solidFill>
                <a:latin typeface="JetBrains Mono"/>
                <a:ea typeface="JetBrains Mono"/>
              </a:rPr>
              <a:t>版本戳构成</a:t>
            </a:r>
            <a:r>
              <a:rPr lang="en-US" sz="975" spc="150">
                <a:solidFill>
                  <a:srgbClr val="2563EB"/>
                </a:solidFill>
                <a:latin typeface="JetBrains Mono"/>
                <a:ea typeface="JetBrains Mono"/>
              </a:rPr>
              <a:t xml:space="preserve"> · FAQ_VERSION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81050" y="3067050"/>
            <a:ext cx="632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JetBrains Mono"/>
                <a:ea typeface="JetBrains Mono"/>
              </a:rPr>
              <a:t>policy:</a:t>
            </a:r>
            <a:r>
              <a:rPr lang="en-US" sz="1275">
                <a:solidFill>
                  <a:srgbClr val="0F172A"/>
                </a:solidFill>
                <a:latin typeface="JetBrains Mono"/>
                <a:ea typeface="JetBrains Mono"/>
              </a:rPr>
              <a:t>{count}</a:t>
            </a:r>
            <a:r>
              <a:rPr lang="en-US" sz="1275">
                <a:solidFill>
                  <a:srgbClr val="0F172A"/>
                </a:solidFill>
                <a:latin typeface="JetBrains Mono"/>
                <a:ea typeface="JetBrains Mono"/>
              </a:rPr>
              <a:t>:</a:t>
            </a:r>
            <a:r>
              <a:rPr lang="en-US" sz="1275">
                <a:solidFill>
                  <a:srgbClr val="0F172A"/>
                </a:solidFill>
                <a:latin typeface="JetBrains Mono"/>
                <a:ea typeface="JetBrains Mono"/>
              </a:rPr>
              <a:t>{max_id}</a:t>
            </a:r>
            <a:r>
              <a:rPr lang="en-US" sz="1275">
                <a:solidFill>
                  <a:srgbClr val="0F172A"/>
                </a:solidFill>
                <a:latin typeface="JetBrains Mono"/>
                <a:ea typeface="JetBrains Mono"/>
              </a:rPr>
              <a:t xml:space="preserve"> | faq:</a:t>
            </a:r>
            <a:r>
              <a:rPr lang="en-US" sz="1275">
                <a:solidFill>
                  <a:srgbClr val="0F172A"/>
                </a:solidFill>
                <a:latin typeface="JetBrains Mono"/>
                <a:ea typeface="JetBrains Mono"/>
              </a:rPr>
              <a:t>{count}</a:t>
            </a:r>
            <a:r>
              <a:rPr lang="en-US" sz="1275">
                <a:solidFill>
                  <a:srgbClr val="0F172A"/>
                </a:solidFill>
                <a:latin typeface="JetBrains Mono"/>
                <a:ea typeface="JetBrains Mono"/>
              </a:rPr>
              <a:t>:</a:t>
            </a:r>
            <a:r>
              <a:rPr lang="en-US" sz="1275">
                <a:solidFill>
                  <a:srgbClr val="0F172A"/>
                </a:solidFill>
                <a:latin typeface="JetBrains Mono"/>
                <a:ea typeface="JetBrains Mono"/>
              </a:rPr>
              <a:t>{max_id}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81050" y="3343275"/>
            <a:ext cx="63246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制度主数据与晋升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FAQ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的「条数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最大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ID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」拼成版本戳。任何写操作都会改变它——缓存键随之换命名空间，旧键自然不可达，不需要主动失效，也没有竞态。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4114800"/>
            <a:ext cx="6667500" cy="504825"/>
          </a:xfrm>
          <a:prstGeom prst="roundRect">
            <a:avLst>
              <a:gd name="adj" fmla="val 226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4248150"/>
            <a:ext cx="247650" cy="24765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62050" y="4238625"/>
            <a:ext cx="5943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缓存只包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 L2 / direct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两条贵路径；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 xml:space="preserve">L1 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命中（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>7ms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）和路由（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>sub-ms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）根本不值得缓存。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4752975"/>
            <a:ext cx="6667500" cy="552450"/>
          </a:xfrm>
          <a:prstGeom prst="roundRect">
            <a:avLst>
              <a:gd name="adj" fmla="val 2069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800100" y="4876800"/>
            <a:ext cx="47625" cy="304800"/>
          </a:xfrm>
          <a:prstGeom prst="roundRect">
            <a:avLst>
              <a:gd name="adj" fmla="val 60000"/>
            </a:avLst>
          </a:prstGeom>
          <a:solidFill>
            <a:srgbClr val="F97316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81075" y="4886325"/>
            <a:ext cx="61055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>
                <a:solidFill>
                  <a:srgbClr val="F8FAFC"/>
                </a:solidFill>
                <a:latin typeface="Noto Sans SC"/>
                <a:ea typeface="Noto Sans SC"/>
              </a:rPr>
              <a:t xml:space="preserve">19ms </a:t>
            </a:r>
            <a:r>
              <a:rPr lang="zh-CN" sz="1275">
                <a:solidFill>
                  <a:srgbClr val="F8FAFC"/>
                </a:solidFill>
                <a:latin typeface="Noto Sans SC"/>
                <a:ea typeface="Noto Sans SC"/>
              </a:rPr>
              <a:t>回放不是优化技巧，是版本治理的副产品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7581900" y="1333500"/>
            <a:ext cx="4000500" cy="1276350"/>
          </a:xfrm>
          <a:prstGeom prst="roundRect">
            <a:avLst>
              <a:gd name="adj" fmla="val 1044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772400" y="1485900"/>
            <a:ext cx="3619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50">
                <a:solidFill>
                  <a:srgbClr val="B45309"/>
                </a:solidFill>
                <a:latin typeface="JetBrains Mono"/>
                <a:ea typeface="JetBrains Mono"/>
              </a:rPr>
              <a:t>缓存回放</a:t>
            </a:r>
            <a:r>
              <a:rPr lang="en-US" sz="900" spc="150">
                <a:solidFill>
                  <a:srgbClr val="B45309"/>
                </a:solidFill>
                <a:latin typeface="JetBrains Mono"/>
                <a:ea typeface="JetBrains Mono"/>
              </a:rPr>
              <a:t xml:space="preserve"> · CACHE REPLAY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772400" y="1724025"/>
            <a:ext cx="13430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gradFill>
                  <a:gsLst>
                    <a:gs pos="0">
                      <a:srgbClr val="F97316"/>
                    </a:gs>
                    <a:gs pos="100000">
                      <a:srgbClr val="FBBF24"/>
                    </a:gs>
                  </a:gsLst>
                  <a:lin ang="2700000" scaled="1"/>
                </a:gradFill>
                <a:latin typeface="JetBrains Mono"/>
                <a:ea typeface="JetBrains Mono"/>
              </a:rPr>
              <a:t>19ms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267825" y="1762125"/>
            <a:ext cx="2124075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9A3412"/>
                </a:solidFill>
                <a:latin typeface="Noto Sans SC"/>
                <a:ea typeface="Noto Sans SC"/>
              </a:rPr>
              <a:t>对比：域内</a:t>
            </a:r>
            <a:r>
              <a:rPr lang="en-US" sz="1125" b="1">
                <a:solidFill>
                  <a:srgbClr val="9A3412"/>
                </a:solidFill>
                <a:latin typeface="Noto Sans SC"/>
                <a:ea typeface="Noto Sans SC"/>
              </a:rPr>
              <a:t xml:space="preserve"> RAG</a:t>
            </a:r>
            <a:endParaRPr/>
          </a:p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9A3412"/>
                </a:solidFill>
                <a:latin typeface="Noto Sans SC"/>
                <a:ea typeface="Noto Sans SC"/>
              </a:rPr>
              <a:t>全程</a:t>
            </a:r>
            <a:r>
              <a:rPr lang="en-US" sz="1125" b="1">
                <a:solidFill>
                  <a:srgbClr val="9A3412"/>
                </a:solidFill>
                <a:latin typeface="Noto Sans SC"/>
                <a:ea typeface="Noto Sans SC"/>
              </a:rPr>
              <a:t xml:space="preserve"> 2722ms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9267825" y="2286000"/>
            <a:ext cx="2124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45309"/>
                </a:solidFill>
                <a:latin typeface="Noto Sans SC"/>
                <a:ea typeface="Noto Sans SC"/>
              </a:rPr>
              <a:t>回放约为其</a:t>
            </a:r>
            <a:r>
              <a:rPr lang="en-US" sz="900">
                <a:solidFill>
                  <a:srgbClr val="B45309"/>
                </a:solidFill>
                <a:latin typeface="Noto Sans SC"/>
                <a:ea typeface="Noto Sans SC"/>
              </a:rPr>
              <a:t xml:space="preserve"> 1/143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581900" y="2724150"/>
            <a:ext cx="4000500" cy="2962275"/>
          </a:xfrm>
          <a:prstGeom prst="roundRect">
            <a:avLst>
              <a:gd name="adj" fmla="val 38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7734300" y="285750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810500" y="28956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039100" y="283845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Noto Sans SC"/>
                <a:ea typeface="Noto Sans SC"/>
              </a:rPr>
              <a:t>版本戳即失效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039100" y="3057525"/>
            <a:ext cx="33909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写操作换命名空间，旧键自然不可达——无定时清理、无竞态。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734300" y="361950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810500" y="36576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039100" y="360045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Noto Sans SC"/>
                <a:ea typeface="Noto Sans SC"/>
              </a:rPr>
              <a:t>坏了不缓存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039100" y="3819525"/>
            <a:ext cx="33909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rag_unavailable / degraded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状态主动删除、绝不入缓存——不把坏答案存起来。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7734300" y="4381500"/>
            <a:ext cx="209550" cy="20955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810500" y="44196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039100" y="436245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Noto Sans SC"/>
                <a:ea typeface="Noto Sans SC"/>
              </a:rPr>
              <a:t xml:space="preserve">Redis </a:t>
            </a:r>
            <a:r>
              <a:rPr lang="zh-CN" sz="1200" b="1">
                <a:solidFill>
                  <a:srgbClr val="0F172A"/>
                </a:solidFill>
                <a:latin typeface="Noto Sans SC"/>
                <a:ea typeface="Noto Sans SC"/>
              </a:rPr>
              <a:t>故障静默降级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039100" y="4581525"/>
            <a:ext cx="33909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连不上就无缓存运行</a:t>
            </a:r>
            <a:r>
              <a:rPr lang="en-US" sz="975">
                <a:solidFill>
                  <a:srgbClr val="475569"/>
                </a:solidFill>
                <a:latin typeface="Noto Sans SC"/>
                <a:ea typeface="Noto Sans SC"/>
              </a:rPr>
              <a:t xml:space="preserve"> + 30s </a:t>
            </a:r>
            <a:r>
              <a:rPr lang="zh-CN" sz="975">
                <a:solidFill>
                  <a:srgbClr val="475569"/>
                </a:solidFill>
                <a:latin typeface="Noto Sans SC"/>
                <a:ea typeface="Noto Sans SC"/>
              </a:rPr>
              <a:t>冷却，绝不因为缓存挂掉而答不了问题。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581900" y="5800725"/>
            <a:ext cx="4000500" cy="485775"/>
          </a:xfrm>
          <a:prstGeom prst="roundRect">
            <a:avLst>
              <a:gd name="adj" fmla="val 23529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753350" y="5972175"/>
            <a:ext cx="209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E7490"/>
                </a:solidFill>
                <a:latin typeface="JetBrains Mono"/>
                <a:ea typeface="JetBrains Mono"/>
              </a:rPr>
              <a:t>TTL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077200" y="5915025"/>
            <a:ext cx="581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7490"/>
                </a:solidFill>
                <a:latin typeface="JetBrains Mono"/>
                <a:ea typeface="JetBrains Mono"/>
              </a:rPr>
              <a:t>1800s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772525" y="5972175"/>
            <a:ext cx="2638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55E75"/>
                </a:solidFill>
                <a:latin typeface="Noto Sans SC"/>
                <a:ea typeface="Noto Sans SC"/>
              </a:rPr>
              <a:t>双保险：版本戳管「内容变」，</a:t>
            </a:r>
            <a:r>
              <a:rPr lang="en-US" sz="975">
                <a:solidFill>
                  <a:srgbClr val="155E75"/>
                </a:solidFill>
                <a:latin typeface="Noto Sans SC"/>
                <a:ea typeface="Noto Sans SC"/>
              </a:rPr>
              <a:t xml:space="preserve">TTL </a:t>
            </a:r>
            <a:r>
              <a:rPr lang="zh-CN" sz="975">
                <a:solidFill>
                  <a:srgbClr val="155E75"/>
                </a:solidFill>
                <a:latin typeface="Noto Sans SC"/>
                <a:ea typeface="Noto Sans SC"/>
              </a:rPr>
              <a:t>管「没人问」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13 / 20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9" name="" descr="&lt;Slide style={{ width: 1280, height: 720, padding: 0, background: '#FFFFFF', fontFamily: '&quot;Noto Sans SC&quot;,&quot;Source Han Sans SC&quot;,&quot;PingFang SC&quot;,&quot;Microsoft YaHei&quot;,sans-serif' }}&gt;&#10;    &lt;Box style={{ height: 120, padding: '34px 64px 0', flexDirection: 'column' }}&gt;&#10;        &lt;Text style={{ fontSize: 34, fontWeight: 'bold', color: '#0F172A', lineHeight: 1.3 }}&gt;兜底链：每一级降级都「如实标注」&lt;/Text&gt;&#10;        &lt;Text style={{ fontSize: 16, color: '#64748B', marginTop: 8 }}&gt;demo 可以降级，但不能撒谎——用户看到的永远是真实状态&lt;/Text&gt;&#10;    &lt;/Box&gt;&#10;    &lt;Box style={{ height: 540, padding: '20px 64px 0', flexDirection: 'row', gap: 32 }}&gt;&#10;        &lt;Box style={{ width: 300, background: '#EFF6FF', border: '1px solid #BFDBFE', borderRadius: 14, padding: '24px 22px', flexDirection: 'column', justifyContent: 'space-between' }}&gt;&#10;            &lt;Box&gt;&#10;                &lt;Text style={{ fontSize: 14, color: '#2563EB', letterSpacing: 3, fontFamily: '&quot;JetBrains Mono&quot;,&quot;Space Grotesk&quot;,Consolas,monospace' }}&gt;FALLBACK&lt;/Text&gt;&#10;                &lt;Text style={{ fontSize: 24, fontWeight: 'bold', color: '#0F172A', lineHeight: 1.4, marginTop: 12 }}&gt;demo 可以降级，&lt;br /&gt;但不能撒谎&lt;/Text&gt;&#10;                &lt;Box style={{ width: 56, height: 5, background: 'linear-gradient(135deg, #2563EB 0%, #06B6D4 100%)', borderRadius: 3, margin: '16px 0 16px' }} /&gt;&#10;                &lt;Text style={{ fontSize: 15, color: '#475569', lineHeight: 1.65 }}&gt;每一级降级都在响应里显式标注——degraded、rag_unavailable。用户看到的是真实状态，不是一个假装正常的系统。演示可以没有模型，但不能没有诚实。&lt;/Text&gt;&#10;            &lt;/Box&gt;&#10;            &lt;Box style={{ background: '#FFFFFF', border: '1px solid #BFDBFE', borderRadius: 10, padding: '12px 14px', flexDirection: 'row', alignItems: 'center', gap: 12 }}&gt;&#10;                &lt;Text style={{ fontSize: 30, fontWeight: 'bold', color: '#2563EB', fontFamily: '&quot;JetBrains Mono&quot;,&quot;Space Grotesk&quot;,Consolas,monospace' }}&gt;5&lt;/Text&gt;&#10;                &lt;Text style={{ fontSize: 14, color: '#475569', lineHeight: 1.45, flex: 1 }}&gt;级兜底路径&lt;br /&gt;每一级都有测试守护&lt;/Text&gt;&#10;            &lt;/Box&gt;&#10;            &lt;Box style={{ background: '#FFFFFF', border: '1px solid #BFDBFE', borderRadius: 10, padding: '12px 14px' }}&gt;&#10;                &lt;Text style={{ fontSize: 15, color: '#1E40AF', fontWeight: 'bold', lineHeight: 1.5 }}&gt;底线：LLM 全部留空&lt;br /&gt;也能跑完全链路。&lt;/Text&gt;&#10;            &lt;/Box&gt;&#10;        &lt;/Box&gt;&#10;        &lt;Box style={{ flex: 1, flexDirection: 'column', gap: 10 }}&gt;&#10;            &lt;Box style={{ flex: 1, flexDirection: 'row', alignItems: 'center', gap: 14, background: '#F8FAFC', border: '1px solid #E2E8F0', borderLeft: '4px solid #2563EB', borderRadius: 10, padding: '0 16px' }}&gt;&#10;                &lt;Text style={{ fontSize: 20, fontWeight: 'bold', color: '#2563EB', fontFamily: '&quot;JetBrains Mono&quot;,&quot;Space Grotesk&quot;,Consolas,monospace', width: 30 }}&gt;01&lt;/Text&gt;&#10;                &lt;Box style={{ flex: 1 }}&gt;&#10;                    &lt;Text style={{ fontSize: 17, fontWeight: 'bold', color: '#0F172A' }}&gt;L1 库挂 → 跳过前置层&lt;/Text&gt;&#10;                    &lt;Text style={{ fontSize: 14, color: '#475569', lineHeight: 1.45, marginTop: 2 }}&gt;FAQ 读不到不影响主链路，照常走 RAG / direct，只是少了秒查层。&lt;/Text&gt;&#10;                &lt;/Box&gt;&#10;                &lt;FAIcon name='check-circle' style={{ fill: '#2563EB', width: 20, height: 20 }} /&gt;&#10;            &lt;/Box&gt;&#10;            &lt;Box style={{ flex: 1, flexDirection: 'row', alignItems: 'center', gap: 14, background: '#F8FAFC', border: '1px solid #E2E8F0', borderLeft: '4px solid #2563EB', borderRadius: 10, padding: '0 16px' }}&gt;&#10;                &lt;Text style={{ fontSize: 20, fontWeight: 'bold', color: '#2563EB', fontFamily: '&quot;JetBrains Mono&quot;,&quot;Space Grotesk&quot;,Consolas,monospace', width: 30 }}&gt;02&lt;/Text&gt;&#10;                &lt;Box style={{ flex: 1 }}&gt;&#10;                    &lt;Text style={{ fontSize: 17, fontWeight: 'bold', color: '#0F172A' }}&gt;Milvus 挂 → rag_unavailable&lt;/Text&gt;&#10;                    &lt;Text style={{ fontSize: 14, color: '#475569', lineHeight: 1.45, marginTop: 2 }}&gt;明确告知「知识检索不可用」，且这个状态绝不写进缓存。&lt;/Text&gt;&#10;                &lt;/Box&gt;&#10;                &lt;FAIcon name='check-circle' style={{ fill: '#2563EB', width: 20, height: 20 }} /&gt;&#10;            &lt;/Box&gt;&#10;            &lt;Box style={{ flex: 1, flexDirection: 'row', alignItems: 'center', gap: 14, background: '#F8FAFC', border: '1px solid #E2E8F0', borderLeft: '4px solid #06B6D4', borderRadius: 10, padding: '0 16px' }}&gt;&#10;                &lt;Text style={{ fontSize: 20, fontWeight: 'bold', color: '#0E7490', fontFamily: '&quot;JetBrains Mono&quot;,&quot;Space Grotesk&quot;,Consolas,monospace', width: 30 }}&gt;03&lt;/Text&gt;&#10;                &lt;Box style={{ flex: 1 }}&gt;&#10;                    &lt;Text style={{ fontSize: 17, fontWeight: 'bold', color: '#0F172A' }}&gt;LLM 挂 → 回放最相关片段&lt;/Text&gt;&#10;                    &lt;Text style={{ fontSize: 14, color: '#475569', lineHeight: 1.45, marginTop: 2 }}&gt;不编造：把检索到的原文直接给用户，并标注 degraded = True。&lt;/Text&gt;&#10;                &lt;/Box&gt;&#10;                &lt;FAIcon name='check-circle' style={{ fill: '#0E7490', width: 20, height: 20 }} /&gt;&#10;            &lt;/Box&gt;&#10;            &lt;Box style={{ flex: 1, flexDirection: 'row', alignItems: 'center', gap: 14, background: '#F8FAFC', border: '1px solid #E2E8F0', borderLeft: '4px solid #06B6D4', borderRadius: 10, padding: '0 16px' }}&gt;&#10;                &lt;Text style={{ fontSize: 20, fontWeight: 'bold', color: '#0E7490', fontFamily: '&quot;JetBrains Mono&quot;,&quot;Space Grotesk&quot;,Consolas,monospace', width: 30 }}&gt;04&lt;/Text&gt;&#10;                &lt;Box style={{ flex: 1 }}&gt;&#10;                    &lt;Text style={{ fontSize: 17, fontWeight: 'bold', color: '#0F172A' }}&gt;RAG miss + how_to → 回落 L1&lt;/Text&gt;&#10;                    &lt;Text style={{ fontSize: 14, color: '#475569', lineHeight: 1.45, marginTop: 2 }}&gt;找不到完整流程就明说「未找到完整流程」，不装懂、不硬答。&lt;/Text&gt;&#10;                &lt;/Box&gt;&#10;                &lt;FAIcon name='check-circle' style={{ fill: '#0E7490', width: 20, height: 20 }} /&gt;&#10;            &lt;/Box&gt;&#10;            &lt;Box style={{ flex: 1, flexDirection: 'row', alignItems: 'center', gap: 14, background: '#F8FAFC', border: '1px solid #E2E8F0', borderLeft: '4px solid #94A3B8', borderRadius: 10, padding: '0 16px' }}&gt;&#10;                &lt;Text style={{ fontSize: 20, fontWeight: 'bold', color: '#64748B', fontFamily: '&quot;JetBrains Mono&quot;,&quot;Space Grotesk&quot;,Consolas,monospace', width: 30 }}&gt;05&lt;/Text&gt;&#10;                &lt;Box style={{ flex: 1 }}&gt;&#10;                    &lt;Text style={{ fontSize: 17, fontWeight: 'bold', color: '#0F172A' }}&gt;遥测写失败 → 只告警不抛&lt;/Text&gt;&#10;                    &lt;Text style={{ fontSize: 14, color: '#475569', lineHeight: 1.45, marginTop: 2 }}&gt;统计落库失败不影响回答本身，日志告警即可，问答照常返回。&lt;/Text&gt;&#10;                &lt;/Box&gt;&#10;                &lt;FAIcon name='check-circle' style={{ fill: '#64748B', width: 20, height: 20 }} /&gt;&#10;            &lt;/Box&gt;&#10;            &lt;Box style={{ background: '#0F172A', borderRadius: 12, padding: '13px 20px', flexDirection: 'row', alignItems: 'center', gap: 14 }}&gt;&#10;                &lt;Box style={{ width: 5, height: 30, borderRadius: 3, background: '#06B6D4' }} /&gt;&#10;                &lt;Text style={{ fontSize: 17, color: '#F8FAFC', lineHeight: 1.45, flex: 1 }}&gt;LLM 全部留空 = 离线模式：规则路由 + 模板结论，全链路依然跑得完&lt;/Text&gt;&#10;            &lt;/Box&gt;&#10;        &lt;/Box&gt;&#10;    &lt;/Box&gt;&#10;    &lt;Box style={{ height: 60, flexDirection: 'row', alignItems: 'center', justifyContent: 'space-between', padding: '0 64px', position: 'relative' }}&gt;&#10;        &lt;Box style={{ flexDirection: 'row', alignItems: 'center', gap: 10 }}&gt;&#10;            &lt;Box style={{ width: 12, height: 12, borderRadius: 3, background: '#2563EB' }} /&gt;&#10;            &lt;Box style={{ width: 9, height: 9, borderRadius: 5, background: '#06B6D4' }} /&gt;&#10;            &lt;Text style={{ fontSize: 14, color: '#94A3B8' }}&gt;mfg-agent-platform · 独立开发实践分享&lt;/Text&gt;&#10;        &lt;/Box&gt;&#10;        &lt;Text style={{ fontSize: 14, color: '#94A3B8', fontFamily: '&quot;JetBrains Mono&quot;,&quot;Space Grotesk&quot;,Consolas,monospace' }}&gt;14 / 20&lt;/Text&gt;&#10;        &lt;Box style={{ position: 'absolute', bottom: 0, left: 0, width: 1280, height: 3, background: 'linear-gradient(90deg, #2563EB 0%, #06B6D4 55%, rgba(6,182,212,0) 100%)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172A"/>
                </a:solidFill>
                <a:latin typeface="Noto Sans SC"/>
                <a:ea typeface="Noto Sans SC"/>
              </a:rPr>
              <a:t>兜底链：每一级降级都「如实标注」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9144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Noto Sans SC"/>
                <a:ea typeface="Noto Sans SC"/>
              </a:rPr>
              <a:t xml:space="preserve">demo </a:t>
            </a:r>
            <a:r>
              <a:rPr lang="zh-CN" sz="1200">
                <a:solidFill>
                  <a:srgbClr val="64748B"/>
                </a:solidFill>
                <a:latin typeface="Noto Sans SC"/>
                <a:ea typeface="Noto Sans SC"/>
              </a:rPr>
              <a:t>可以降级，但不能撒谎——用户看到的永远是真实状态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1333500"/>
            <a:ext cx="2857500" cy="4953000"/>
          </a:xfrm>
          <a:prstGeom prst="roundRect">
            <a:avLst>
              <a:gd name="adj" fmla="val 4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19150" y="15621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563EB"/>
                </a:solidFill>
                <a:latin typeface="JetBrains Mono"/>
                <a:ea typeface="JetBrains Mono"/>
              </a:rPr>
              <a:t>FALLBACK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19150" y="1838325"/>
            <a:ext cx="2438400" cy="771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0F172A"/>
                </a:solidFill>
                <a:latin typeface="Noto Sans SC"/>
                <a:ea typeface="Noto Sans SC"/>
              </a:rPr>
              <a:t xml:space="preserve">demo </a:t>
            </a:r>
            <a:r>
              <a:rPr lang="zh-CN" sz="1800" b="1">
                <a:solidFill>
                  <a:srgbClr val="0F172A"/>
                </a:solidFill>
                <a:latin typeface="Noto Sans SC"/>
                <a:ea typeface="Noto Sans SC"/>
              </a:rPr>
              <a:t>可以降级，</a:t>
            </a:r>
            <a:endParaRPr/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F172A"/>
                </a:solidFill>
                <a:latin typeface="Noto Sans SC"/>
                <a:ea typeface="Noto Sans SC"/>
              </a:rPr>
              <a:t>但不能撒谎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819150" y="2762250"/>
            <a:ext cx="53340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2563EB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19150" y="2962275"/>
            <a:ext cx="2438400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每一级降级都在响应里显式标注——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>degraded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、</a:t>
            </a:r>
            <a:r>
              <a:rPr lang="en-US" sz="1125">
                <a:solidFill>
                  <a:srgbClr val="475569"/>
                </a:solidFill>
                <a:latin typeface="Noto Sans SC"/>
                <a:ea typeface="Noto Sans SC"/>
              </a:rPr>
              <a:t>rag_unavailable</a:t>
            </a:r>
            <a:r>
              <a:rPr lang="zh-CN" sz="1125">
                <a:solidFill>
                  <a:srgbClr val="475569"/>
                </a:solidFill>
                <a:latin typeface="Noto Sans SC"/>
                <a:ea typeface="Noto Sans SC"/>
              </a:rPr>
              <a:t>。用户看到的是真实状态，不是一个假装正常的系统。演示可以没有模型，但不能没有诚实。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819150" y="4505325"/>
            <a:ext cx="2438400" cy="695325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952500" y="4686300"/>
            <a:ext cx="161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228725" y="4619625"/>
            <a:ext cx="1895475" cy="4667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级兜底路径</a:t>
            </a:r>
            <a:endParaRPr/>
          </a:p>
          <a:p>
            <a:pPr>
              <a:lnSpc>
                <a:spcPct val="14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每一级都有测试守护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819150" y="5314950"/>
            <a:ext cx="24384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952500" y="5429250"/>
            <a:ext cx="21717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E40AF"/>
                </a:solidFill>
                <a:latin typeface="Noto Sans SC"/>
                <a:ea typeface="Noto Sans SC"/>
              </a:rPr>
              <a:t>底线：</a:t>
            </a:r>
            <a:r>
              <a:rPr lang="en-US" sz="1125" b="1">
                <a:solidFill>
                  <a:srgbClr val="1E40AF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125" b="1">
                <a:solidFill>
                  <a:srgbClr val="1E40AF"/>
                </a:solidFill>
                <a:latin typeface="Noto Sans SC"/>
                <a:ea typeface="Noto Sans SC"/>
              </a:rPr>
              <a:t>全部留空</a:t>
            </a:r>
            <a:endParaRPr/>
          </a:p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E40AF"/>
                </a:solidFill>
                <a:latin typeface="Noto Sans SC"/>
                <a:ea typeface="Noto Sans SC"/>
              </a:rPr>
              <a:t>也能跑完全链路。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3810000" y="1333500"/>
            <a:ext cx="78105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3810000" y="1333500"/>
            <a:ext cx="7810500" cy="790575"/>
          </a:xfrm>
          <a:custGeom>
            <a:pathLst>
              <a:path w="820" h="83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7"/>
                </a:lnTo>
                <a:cubicBezTo>
                  <a:pt x="4" y="80"/>
                  <a:pt x="6" y="82"/>
                  <a:pt x="9" y="83"/>
                </a:cubicBezTo>
                <a:cubicBezTo>
                  <a:pt x="4" y="82"/>
                  <a:pt x="0" y="78"/>
                  <a:pt x="0" y="7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962400" y="161925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381500" y="1504950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L1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库挂</a:t>
            </a: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跳过前置层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381500" y="1724025"/>
            <a:ext cx="67246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FAQ 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读不到不影响主链路，照常走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RAG / direct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，只是少了秒查层。</a:t>
            </a:r>
            <a:endParaRPr/>
          </a:p>
        </p:txBody>
      </p:sp>
      <p:pic>
        <p:nvPicPr>
          <p:cNvPr id="1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39500" y="1638300"/>
            <a:ext cx="190500" cy="190500"/>
          </a:xfrm>
          <a:prstGeom prst="rect">
            <a:avLst/>
          </a:prstGeom>
          <a:ln/>
        </p:spPr>
      </p:pic>
      <p:sp>
        <p:nvSpPr>
          <p:cNvPr id="189" name=""/>
          <p:cNvSpPr/>
          <p:nvPr/>
        </p:nvSpPr>
        <p:spPr>
          <a:xfrm rot="0" flipH="0" flipV="0">
            <a:off x="3810000" y="2219325"/>
            <a:ext cx="78105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3810000" y="2219325"/>
            <a:ext cx="7810500" cy="790575"/>
          </a:xfrm>
          <a:custGeom>
            <a:pathLst>
              <a:path w="820" h="83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7"/>
                </a:lnTo>
                <a:cubicBezTo>
                  <a:pt x="4" y="80"/>
                  <a:pt x="6" y="82"/>
                  <a:pt x="9" y="83"/>
                </a:cubicBezTo>
                <a:cubicBezTo>
                  <a:pt x="4" y="82"/>
                  <a:pt x="0" y="78"/>
                  <a:pt x="0" y="7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962400" y="25050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381500" y="239077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Milvus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挂</a:t>
            </a: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 → rag_unavailable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381500" y="2609850"/>
            <a:ext cx="67246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明确告知「知识检索不可用」，且这个状态绝不写进缓存。</a:t>
            </a:r>
            <a:endParaRPr/>
          </a:p>
        </p:txBody>
      </p:sp>
      <p:pic>
        <p:nvPicPr>
          <p:cNvPr id="1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239500" y="2524125"/>
            <a:ext cx="190500" cy="190500"/>
          </a:xfrm>
          <a:prstGeom prst="rect">
            <a:avLst/>
          </a:prstGeom>
          <a:ln/>
        </p:spPr>
      </p:pic>
      <p:sp>
        <p:nvSpPr>
          <p:cNvPr id="195" name=""/>
          <p:cNvSpPr/>
          <p:nvPr/>
        </p:nvSpPr>
        <p:spPr>
          <a:xfrm rot="0" flipH="0" flipV="0">
            <a:off x="3810000" y="3105150"/>
            <a:ext cx="781050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3810000" y="3105150"/>
            <a:ext cx="7810500" cy="781050"/>
          </a:xfrm>
          <a:custGeom>
            <a:pathLst>
              <a:path w="820" h="8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6"/>
                </a:lnTo>
                <a:cubicBezTo>
                  <a:pt x="4" y="79"/>
                  <a:pt x="6" y="81"/>
                  <a:pt x="9" y="82"/>
                </a:cubicBezTo>
                <a:cubicBezTo>
                  <a:pt x="4" y="81"/>
                  <a:pt x="0" y="77"/>
                  <a:pt x="0" y="7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962400" y="33813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7490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381500" y="326707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挂</a:t>
            </a: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回放最相关片段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381500" y="3486150"/>
            <a:ext cx="67246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不编造：把检索到的原文直接给用户，并标注</a:t>
            </a:r>
            <a:r>
              <a:rPr lang="en-US" sz="1050">
                <a:solidFill>
                  <a:srgbClr val="475569"/>
                </a:solidFill>
                <a:latin typeface="Noto Sans SC"/>
                <a:ea typeface="Noto Sans SC"/>
              </a:rPr>
              <a:t xml:space="preserve"> degraded = True</a:t>
            </a: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pic>
        <p:nvPicPr>
          <p:cNvPr id="2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39500" y="3400425"/>
            <a:ext cx="190500" cy="190500"/>
          </a:xfrm>
          <a:prstGeom prst="rect">
            <a:avLst/>
          </a:prstGeom>
          <a:ln/>
        </p:spPr>
      </p:pic>
      <p:sp>
        <p:nvSpPr>
          <p:cNvPr id="201" name=""/>
          <p:cNvSpPr/>
          <p:nvPr/>
        </p:nvSpPr>
        <p:spPr>
          <a:xfrm rot="0" flipH="0" flipV="0">
            <a:off x="3810000" y="3981450"/>
            <a:ext cx="78105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3810000" y="3981450"/>
            <a:ext cx="7810500" cy="790575"/>
          </a:xfrm>
          <a:custGeom>
            <a:pathLst>
              <a:path w="820" h="83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7"/>
                </a:lnTo>
                <a:cubicBezTo>
                  <a:pt x="4" y="80"/>
                  <a:pt x="6" y="82"/>
                  <a:pt x="9" y="83"/>
                </a:cubicBezTo>
                <a:cubicBezTo>
                  <a:pt x="4" y="82"/>
                  <a:pt x="0" y="78"/>
                  <a:pt x="0" y="7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962400" y="426720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7490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381500" y="4152900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RAG miss + how_to →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回落</a:t>
            </a: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 L1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381500" y="4371975"/>
            <a:ext cx="67246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找不到完整流程就明说「未找到完整流程」，不装懂、不硬答。</a:t>
            </a:r>
            <a:endParaRPr/>
          </a:p>
        </p:txBody>
      </p:sp>
      <p:pic>
        <p:nvPicPr>
          <p:cNvPr id="2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239500" y="4286250"/>
            <a:ext cx="190500" cy="190500"/>
          </a:xfrm>
          <a:prstGeom prst="rect">
            <a:avLst/>
          </a:prstGeom>
          <a:ln/>
        </p:spPr>
      </p:pic>
      <p:sp>
        <p:nvSpPr>
          <p:cNvPr id="207" name=""/>
          <p:cNvSpPr/>
          <p:nvPr/>
        </p:nvSpPr>
        <p:spPr>
          <a:xfrm rot="0" flipH="0" flipV="0">
            <a:off x="3810000" y="4867275"/>
            <a:ext cx="78105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3810000" y="4867275"/>
            <a:ext cx="7810500" cy="790575"/>
          </a:xfrm>
          <a:custGeom>
            <a:pathLst>
              <a:path w="820" h="83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7"/>
                </a:lnTo>
                <a:cubicBezTo>
                  <a:pt x="4" y="80"/>
                  <a:pt x="6" y="82"/>
                  <a:pt x="9" y="83"/>
                </a:cubicBezTo>
                <a:cubicBezTo>
                  <a:pt x="4" y="82"/>
                  <a:pt x="0" y="78"/>
                  <a:pt x="0" y="7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94A3B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962400" y="515302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4748B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381500" y="5038725"/>
            <a:ext cx="672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遥测写失败</a:t>
            </a:r>
            <a:r>
              <a:rPr lang="en-US" sz="1275" b="1">
                <a:solidFill>
                  <a:srgbClr val="0F172A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275" b="1">
                <a:solidFill>
                  <a:srgbClr val="0F172A"/>
                </a:solidFill>
                <a:latin typeface="Noto Sans SC"/>
                <a:ea typeface="Noto Sans SC"/>
              </a:rPr>
              <a:t>只告警不抛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381500" y="5257800"/>
            <a:ext cx="672465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475569"/>
                </a:solidFill>
                <a:latin typeface="Noto Sans SC"/>
                <a:ea typeface="Noto Sans SC"/>
              </a:rPr>
              <a:t>统计落库失败不影响回答本身，日志告警即可，问答照常返回。</a:t>
            </a:r>
            <a:endParaRPr/>
          </a:p>
        </p:txBody>
      </p:sp>
      <p:pic>
        <p:nvPicPr>
          <p:cNvPr id="2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1239500" y="5172075"/>
            <a:ext cx="190500" cy="190500"/>
          </a:xfrm>
          <a:prstGeom prst="rect">
            <a:avLst/>
          </a:prstGeom>
          <a:ln/>
        </p:spPr>
      </p:pic>
      <p:sp>
        <p:nvSpPr>
          <p:cNvPr id="213" name=""/>
          <p:cNvSpPr/>
          <p:nvPr/>
        </p:nvSpPr>
        <p:spPr>
          <a:xfrm rot="0" flipH="0" flipV="0">
            <a:off x="3771900" y="5753100"/>
            <a:ext cx="7810500" cy="533400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3962400" y="5876925"/>
            <a:ext cx="47625" cy="285750"/>
          </a:xfrm>
          <a:prstGeom prst="roundRect">
            <a:avLst>
              <a:gd name="adj" fmla="val 6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143375" y="5876925"/>
            <a:ext cx="72485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>
                <a:solidFill>
                  <a:srgbClr val="F8FAFC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275">
                <a:solidFill>
                  <a:srgbClr val="F8FAFC"/>
                </a:solidFill>
                <a:latin typeface="Noto Sans SC"/>
                <a:ea typeface="Noto Sans SC"/>
              </a:rPr>
              <a:t>全部留空</a:t>
            </a:r>
            <a:r>
              <a:rPr lang="en-US" sz="1275">
                <a:solidFill>
                  <a:srgbClr val="F8FAFC"/>
                </a:solidFill>
                <a:latin typeface="Noto Sans SC"/>
                <a:ea typeface="Noto Sans SC"/>
              </a:rPr>
              <a:t xml:space="preserve"> = </a:t>
            </a:r>
            <a:r>
              <a:rPr lang="zh-CN" sz="1275">
                <a:solidFill>
                  <a:srgbClr val="F8FAFC"/>
                </a:solidFill>
                <a:latin typeface="Noto Sans SC"/>
                <a:ea typeface="Noto Sans SC"/>
              </a:rPr>
              <a:t>离线模式：规则路由</a:t>
            </a:r>
            <a:r>
              <a:rPr lang="en-US" sz="1275">
                <a:solidFill>
                  <a:srgbClr val="F8FAFC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75">
                <a:solidFill>
                  <a:srgbClr val="F8FAFC"/>
                </a:solidFill>
                <a:latin typeface="Noto Sans SC"/>
                <a:ea typeface="Noto Sans SC"/>
              </a:rPr>
              <a:t>模板结论，全链路依然跑得完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09600" y="65246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819150" y="6534150"/>
            <a:ext cx="85725" cy="85725"/>
          </a:xfrm>
          <a:prstGeom prst="roundRect">
            <a:avLst>
              <a:gd name="adj" fmla="val 55556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00125" y="6496050"/>
            <a:ext cx="2409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SC"/>
                <a:ea typeface="Noto Sans SC"/>
              </a:rPr>
              <a:t xml:space="preserve">mfg-agent-platform · </a:t>
            </a:r>
            <a:r>
              <a:rPr lang="zh-CN" sz="1050">
                <a:solidFill>
                  <a:srgbClr val="94A3B8"/>
                </a:solidFill>
                <a:latin typeface="Noto Sans SC"/>
                <a:ea typeface="Noto Sans SC"/>
              </a:rPr>
              <a:t>独立开发实践分享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068050" y="6496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14 / 20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2563EB"/>
              </a:gs>
              <a:gs pos="55000">
                <a:srgbClr val="06B6D4"/>
              </a:gs>
              <a:gs pos="100000">
                <a:srgbClr val="06B6D4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2026-10-20T18:42:18Z</dcterms:created>
  <dcterms:modified xsi:type="dcterms:W3CDTF">2026-10-20T18:42:18Z</dcterms:modified>
</cp:coreProperties>
</file>